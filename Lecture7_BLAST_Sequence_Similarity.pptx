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B3EA841-8D2B-64DC-F524-C1464170D6F1}">
          <p14:sldIdLst>
            <p14:sldId id="256"/>
            <p14:sldId id="257"/>
          </p14:sldIdLst>
        </p14:section>
        <p14:section name="Concepts" id="{0B7AFD5C-65C3-C799-2D65-84C2CCE7AF0F}">
          <p14:sldIdLst>
            <p14:sldId id="258"/>
            <p14:sldId id="259"/>
            <p14:sldId id="260"/>
            <p14:sldId id="261"/>
          </p14:sldIdLst>
        </p14:section>
        <p14:section name="Statistics" id="{7871F2FE-7F7F-AB21-0C65-E01C4969CD31}">
          <p14:sldIdLst>
            <p14:sldId id="262"/>
            <p14:sldId id="263"/>
            <p14:sldId id="264"/>
          </p14:sldIdLst>
        </p14:section>
        <p14:section name="Practice" id="{10B27846-9A0A-B2BB-37DA-51136112ECFD}">
          <p14:sldIdLst>
            <p14:sldId id="265"/>
            <p14:sldId id="266"/>
            <p14:sldId id="267"/>
          </p14:sldIdLst>
        </p14:section>
        <p14:section name="Wrap-up" id="{85CAF65B-3FAC-56E9-6202-9BE55468C18B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10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9470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512064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chemeClr val="accent3"/>
                </a:solidFill>
              </a:rPr>
              <a:t>LECTURE 7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</a:rPr>
              <a:t>BLAST &amp; Sequence Similarity Search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83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</a:rPr>
              <a:t>MS Data Science  ·  Bioinformatics</a:t>
            </a:r>
            <a:endParaRPr lang="en-US" sz="1800" dirty="0"/>
          </a:p>
        </p:txBody>
      </p:sp>
      <p:sp>
        <p:nvSpPr>
          <p:cNvPr id="5" name="seq-cell"/>
          <p:cNvSpPr/>
          <p:nvPr/>
        </p:nvSpPr>
        <p:spPr>
          <a:xfrm>
            <a:off x="6172200" y="137160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</p:sp>
      <p:sp>
        <p:nvSpPr>
          <p:cNvPr id="6" name="seq-letter"/>
          <p:cNvSpPr txBox="1"/>
          <p:nvPr/>
        </p:nvSpPr>
        <p:spPr>
          <a:xfrm>
            <a:off x="61722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seq-cell"/>
          <p:cNvSpPr/>
          <p:nvPr/>
        </p:nvSpPr>
        <p:spPr>
          <a:xfrm>
            <a:off x="6702552" y="137160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</p:sp>
      <p:sp>
        <p:nvSpPr>
          <p:cNvPr id="8" name="seq-letter"/>
          <p:cNvSpPr txBox="1"/>
          <p:nvPr/>
        </p:nvSpPr>
        <p:spPr>
          <a:xfrm>
            <a:off x="670255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800" dirty="0"/>
          </a:p>
        </p:txBody>
      </p:sp>
      <p:sp>
        <p:nvSpPr>
          <p:cNvPr id="9" name="seq-cell"/>
          <p:cNvSpPr/>
          <p:nvPr/>
        </p:nvSpPr>
        <p:spPr>
          <a:xfrm>
            <a:off x="7232904" y="137160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</p:sp>
      <p:sp>
        <p:nvSpPr>
          <p:cNvPr id="10" name="seq-letter"/>
          <p:cNvSpPr txBox="1"/>
          <p:nvPr/>
        </p:nvSpPr>
        <p:spPr>
          <a:xfrm>
            <a:off x="7232904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800" dirty="0"/>
          </a:p>
        </p:txBody>
      </p:sp>
      <p:sp>
        <p:nvSpPr>
          <p:cNvPr id="11" name="seq-cell"/>
          <p:cNvSpPr/>
          <p:nvPr/>
        </p:nvSpPr>
        <p:spPr>
          <a:xfrm>
            <a:off x="7763256" y="137160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</p:sp>
      <p:sp>
        <p:nvSpPr>
          <p:cNvPr id="12" name="seq-letter"/>
          <p:cNvSpPr txBox="1"/>
          <p:nvPr/>
        </p:nvSpPr>
        <p:spPr>
          <a:xfrm>
            <a:off x="7763256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800" dirty="0"/>
          </a:p>
        </p:txBody>
      </p:sp>
      <p:sp>
        <p:nvSpPr>
          <p:cNvPr id="13" name="seq-cell"/>
          <p:cNvSpPr/>
          <p:nvPr/>
        </p:nvSpPr>
        <p:spPr>
          <a:xfrm>
            <a:off x="8293608" y="137160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</p:sp>
      <p:sp>
        <p:nvSpPr>
          <p:cNvPr id="14" name="seq-letter"/>
          <p:cNvSpPr txBox="1"/>
          <p:nvPr/>
        </p:nvSpPr>
        <p:spPr>
          <a:xfrm>
            <a:off x="8293608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00" dirty="0"/>
          </a:p>
        </p:txBody>
      </p:sp>
      <p:sp>
        <p:nvSpPr>
          <p:cNvPr id="15" name="seq-cell"/>
          <p:cNvSpPr/>
          <p:nvPr/>
        </p:nvSpPr>
        <p:spPr>
          <a:xfrm>
            <a:off x="6172200" y="1901952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</p:sp>
      <p:sp>
        <p:nvSpPr>
          <p:cNvPr id="16" name="seq-letter"/>
          <p:cNvSpPr txBox="1"/>
          <p:nvPr/>
        </p:nvSpPr>
        <p:spPr>
          <a:xfrm>
            <a:off x="617220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800" dirty="0"/>
          </a:p>
        </p:txBody>
      </p:sp>
      <p:sp>
        <p:nvSpPr>
          <p:cNvPr id="17" name="seq-cell"/>
          <p:cNvSpPr/>
          <p:nvPr/>
        </p:nvSpPr>
        <p:spPr>
          <a:xfrm>
            <a:off x="6702552" y="1901952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18" name="seq-letter"/>
          <p:cNvSpPr txBox="1"/>
          <p:nvPr/>
        </p:nvSpPr>
        <p:spPr>
          <a:xfrm>
            <a:off x="6702552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800" dirty="0"/>
          </a:p>
        </p:txBody>
      </p:sp>
      <p:sp>
        <p:nvSpPr>
          <p:cNvPr id="19" name="seq-cell"/>
          <p:cNvSpPr/>
          <p:nvPr/>
        </p:nvSpPr>
        <p:spPr>
          <a:xfrm>
            <a:off x="7232904" y="1901952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20" name="seq-letter"/>
          <p:cNvSpPr txBox="1"/>
          <p:nvPr/>
        </p:nvSpPr>
        <p:spPr>
          <a:xfrm>
            <a:off x="7232904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800" dirty="0"/>
          </a:p>
        </p:txBody>
      </p:sp>
      <p:sp>
        <p:nvSpPr>
          <p:cNvPr id="21" name="seq-cell"/>
          <p:cNvSpPr/>
          <p:nvPr/>
        </p:nvSpPr>
        <p:spPr>
          <a:xfrm>
            <a:off x="7763256" y="1901952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22" name="seq-letter"/>
          <p:cNvSpPr txBox="1"/>
          <p:nvPr/>
        </p:nvSpPr>
        <p:spPr>
          <a:xfrm>
            <a:off x="7763256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00" dirty="0"/>
          </a:p>
        </p:txBody>
      </p:sp>
      <p:sp>
        <p:nvSpPr>
          <p:cNvPr id="23" name="seq-cell"/>
          <p:cNvSpPr/>
          <p:nvPr/>
        </p:nvSpPr>
        <p:spPr>
          <a:xfrm>
            <a:off x="8293608" y="1901952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</p:sp>
      <p:sp>
        <p:nvSpPr>
          <p:cNvPr id="24" name="seq-letter"/>
          <p:cNvSpPr txBox="1"/>
          <p:nvPr/>
        </p:nvSpPr>
        <p:spPr>
          <a:xfrm>
            <a:off x="8293608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800" dirty="0"/>
          </a:p>
        </p:txBody>
      </p:sp>
      <p:sp>
        <p:nvSpPr>
          <p:cNvPr id="25" name="seq-cell"/>
          <p:cNvSpPr/>
          <p:nvPr/>
        </p:nvSpPr>
        <p:spPr>
          <a:xfrm>
            <a:off x="6172200" y="2432304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</p:sp>
      <p:sp>
        <p:nvSpPr>
          <p:cNvPr id="26" name="seq-letter"/>
          <p:cNvSpPr txBox="1"/>
          <p:nvPr/>
        </p:nvSpPr>
        <p:spPr>
          <a:xfrm>
            <a:off x="6172200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800" dirty="0"/>
          </a:p>
        </p:txBody>
      </p:sp>
      <p:sp>
        <p:nvSpPr>
          <p:cNvPr id="27" name="seq-cell"/>
          <p:cNvSpPr/>
          <p:nvPr/>
        </p:nvSpPr>
        <p:spPr>
          <a:xfrm>
            <a:off x="6702552" y="2432304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</p:sp>
      <p:sp>
        <p:nvSpPr>
          <p:cNvPr id="28" name="seq-letter"/>
          <p:cNvSpPr txBox="1"/>
          <p:nvPr/>
        </p:nvSpPr>
        <p:spPr>
          <a:xfrm>
            <a:off x="6702552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00" dirty="0"/>
          </a:p>
        </p:txBody>
      </p:sp>
      <p:sp>
        <p:nvSpPr>
          <p:cNvPr id="29" name="seq-cell"/>
          <p:cNvSpPr/>
          <p:nvPr/>
        </p:nvSpPr>
        <p:spPr>
          <a:xfrm>
            <a:off x="7232904" y="2432304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</p:sp>
      <p:sp>
        <p:nvSpPr>
          <p:cNvPr id="30" name="seq-letter"/>
          <p:cNvSpPr txBox="1"/>
          <p:nvPr/>
        </p:nvSpPr>
        <p:spPr>
          <a:xfrm>
            <a:off x="7232904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800" dirty="0"/>
          </a:p>
        </p:txBody>
      </p:sp>
      <p:sp>
        <p:nvSpPr>
          <p:cNvPr id="31" name="seq-cell"/>
          <p:cNvSpPr/>
          <p:nvPr/>
        </p:nvSpPr>
        <p:spPr>
          <a:xfrm>
            <a:off x="7763256" y="2432304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</p:sp>
      <p:sp>
        <p:nvSpPr>
          <p:cNvPr id="32" name="seq-letter"/>
          <p:cNvSpPr txBox="1"/>
          <p:nvPr/>
        </p:nvSpPr>
        <p:spPr>
          <a:xfrm>
            <a:off x="7763256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800" dirty="0"/>
          </a:p>
        </p:txBody>
      </p:sp>
      <p:sp>
        <p:nvSpPr>
          <p:cNvPr id="33" name="seq-cell"/>
          <p:cNvSpPr/>
          <p:nvPr/>
        </p:nvSpPr>
        <p:spPr>
          <a:xfrm>
            <a:off x="8293608" y="2432304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</p:sp>
      <p:sp>
        <p:nvSpPr>
          <p:cNvPr id="34" name="seq-letter"/>
          <p:cNvSpPr txBox="1"/>
          <p:nvPr/>
        </p:nvSpPr>
        <p:spPr>
          <a:xfrm>
            <a:off x="8293608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800" dirty="0"/>
          </a:p>
        </p:txBody>
      </p:sp>
      <p:sp>
        <p:nvSpPr>
          <p:cNvPr id="35" name="seq-cell"/>
          <p:cNvSpPr/>
          <p:nvPr/>
        </p:nvSpPr>
        <p:spPr>
          <a:xfrm>
            <a:off x="6172200" y="2962656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</p:sp>
      <p:sp>
        <p:nvSpPr>
          <p:cNvPr id="36" name="seq-letter"/>
          <p:cNvSpPr txBox="1"/>
          <p:nvPr/>
        </p:nvSpPr>
        <p:spPr>
          <a:xfrm>
            <a:off x="6172200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800" dirty="0"/>
          </a:p>
        </p:txBody>
      </p:sp>
      <p:sp>
        <p:nvSpPr>
          <p:cNvPr id="37" name="seq-cell"/>
          <p:cNvSpPr/>
          <p:nvPr/>
        </p:nvSpPr>
        <p:spPr>
          <a:xfrm>
            <a:off x="6702552" y="2962656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</p:sp>
      <p:sp>
        <p:nvSpPr>
          <p:cNvPr id="38" name="seq-letter"/>
          <p:cNvSpPr txBox="1"/>
          <p:nvPr/>
        </p:nvSpPr>
        <p:spPr>
          <a:xfrm>
            <a:off x="6702552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800" dirty="0"/>
          </a:p>
        </p:txBody>
      </p:sp>
      <p:sp>
        <p:nvSpPr>
          <p:cNvPr id="39" name="seq-cell"/>
          <p:cNvSpPr/>
          <p:nvPr/>
        </p:nvSpPr>
        <p:spPr>
          <a:xfrm>
            <a:off x="7232904" y="2962656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</p:sp>
      <p:sp>
        <p:nvSpPr>
          <p:cNvPr id="40" name="seq-letter"/>
          <p:cNvSpPr txBox="1"/>
          <p:nvPr/>
        </p:nvSpPr>
        <p:spPr>
          <a:xfrm>
            <a:off x="7232904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00" dirty="0"/>
          </a:p>
        </p:txBody>
      </p:sp>
      <p:sp>
        <p:nvSpPr>
          <p:cNvPr id="41" name="seq-cell"/>
          <p:cNvSpPr/>
          <p:nvPr/>
        </p:nvSpPr>
        <p:spPr>
          <a:xfrm>
            <a:off x="7763256" y="2962656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</p:sp>
      <p:sp>
        <p:nvSpPr>
          <p:cNvPr id="42" name="seq-letter"/>
          <p:cNvSpPr txBox="1"/>
          <p:nvPr/>
        </p:nvSpPr>
        <p:spPr>
          <a:xfrm>
            <a:off x="7763256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800" dirty="0"/>
          </a:p>
        </p:txBody>
      </p:sp>
      <p:sp>
        <p:nvSpPr>
          <p:cNvPr id="43" name="seq-cell"/>
          <p:cNvSpPr/>
          <p:nvPr/>
        </p:nvSpPr>
        <p:spPr>
          <a:xfrm>
            <a:off x="8293608" y="2962656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</p:sp>
      <p:sp>
        <p:nvSpPr>
          <p:cNvPr id="44" name="seq-letter"/>
          <p:cNvSpPr txBox="1"/>
          <p:nvPr/>
        </p:nvSpPr>
        <p:spPr>
          <a:xfrm>
            <a:off x="8293608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6172200" y="3566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a seed match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Learning Objectives</a:t>
            </a:r>
            <a:endParaRPr lang="en-US" sz="3400" dirty="0"/>
          </a:p>
        </p:txBody>
      </p:sp>
      <p:sp>
        <p:nvSpPr>
          <p:cNvPr id="3" name="objective-card"/>
          <p:cNvSpPr/>
          <p:nvPr/>
        </p:nvSpPr>
        <p:spPr>
          <a:xfrm>
            <a:off x="457200" y="137160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4" name="number-badge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number-text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23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Explain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718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 BLAST heuristic algorithm (seed-and-extend)</a:t>
            </a:r>
            <a:endParaRPr lang="en-US" sz="1600" dirty="0"/>
          </a:p>
        </p:txBody>
      </p:sp>
      <p:sp>
        <p:nvSpPr>
          <p:cNvPr id="8" name="objective-card"/>
          <p:cNvSpPr/>
          <p:nvPr/>
        </p:nvSpPr>
        <p:spPr>
          <a:xfrm>
            <a:off x="3291840" y="137160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9" name="number-badge"/>
          <p:cNvSpPr/>
          <p:nvPr/>
        </p:nvSpPr>
        <p:spPr>
          <a:xfrm>
            <a:off x="3566160" y="16459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number-text"/>
          <p:cNvSpPr txBox="1"/>
          <p:nvPr/>
        </p:nvSpPr>
        <p:spPr>
          <a:xfrm>
            <a:off x="35661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423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Interpret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9718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e-values and bit scores</a:t>
            </a:r>
            <a:endParaRPr lang="en-US" sz="1600" dirty="0"/>
          </a:p>
        </p:txBody>
      </p:sp>
      <p:sp>
        <p:nvSpPr>
          <p:cNvPr id="13" name="objective-card"/>
          <p:cNvSpPr/>
          <p:nvPr/>
        </p:nvSpPr>
        <p:spPr>
          <a:xfrm>
            <a:off x="6126480" y="137160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4" name="number-badge"/>
          <p:cNvSpPr/>
          <p:nvPr/>
        </p:nvSpPr>
        <p:spPr>
          <a:xfrm>
            <a:off x="6400800" y="16459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number-text"/>
          <p:cNvSpPr txBox="1"/>
          <p:nvPr/>
        </p:nvSpPr>
        <p:spPr>
          <a:xfrm>
            <a:off x="640080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423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Run &amp; evaluate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9718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BLAST searches on real data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Why Do We Need BLAST?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Databases hold hundreds of millions of sequences. Aligning your query to every one of them is far too slow.</a:t>
            </a:r>
            <a:endParaRPr lang="en-US" sz="1600" dirty="0"/>
          </a:p>
        </p:txBody>
      </p:sp>
      <p:sp>
        <p:nvSpPr>
          <p:cNvPr id="4" name="slow-card"/>
          <p:cNvSpPr/>
          <p:nvPr/>
        </p:nvSpPr>
        <p:spPr>
          <a:xfrm>
            <a:off x="457200" y="1965960"/>
            <a:ext cx="38404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103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Full alignment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603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(Smith-Waterman) Compares the query with every position of every sequence.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383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Exact, but slow</a:t>
            </a:r>
            <a:endParaRPr lang="en-US" sz="1600" dirty="0"/>
          </a:p>
        </p:txBody>
      </p:sp>
      <p:sp>
        <p:nvSpPr>
          <p:cNvPr id="8" name="fast-card"/>
          <p:cNvSpPr/>
          <p:nvPr/>
        </p:nvSpPr>
        <p:spPr>
          <a:xfrm>
            <a:off x="4846320" y="1965960"/>
            <a:ext cx="3840480" cy="192024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74920" y="2103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BLAST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074920" y="25603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Finds short matching seeds first, then extends only the promising ones.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3383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Fast, nearly as sensitive</a:t>
            </a:r>
            <a:endParaRPr lang="en-US" sz="1600" dirty="0"/>
          </a:p>
        </p:txBody>
      </p:sp>
      <p:sp>
        <p:nvSpPr>
          <p:cNvPr id="12" name="vs-badge"/>
          <p:cNvSpPr/>
          <p:nvPr/>
        </p:nvSpPr>
        <p:spPr>
          <a:xfrm>
            <a:off x="4297680" y="265176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9768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VS</a:t>
            </a:r>
            <a:endParaRPr lang="en-US" sz="1400" dirty="0"/>
          </a:p>
        </p:txBody>
      </p:sp>
      <p:sp>
        <p:nvSpPr>
          <p:cNvPr id="14" name="heuristic-note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A heuristic is a smart shortcut: much faster, but it may miss a few very weak matches.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BLAST Variants</a:t>
            </a:r>
            <a:endParaRPr lang="en-US" sz="3400" dirty="0"/>
          </a:p>
        </p:txBody>
      </p:sp>
      <p:graphicFrame>
        <p:nvGraphicFramePr>
          <p:cNvPr id="5" name="variant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24688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Program</a:t>
                      </a:r>
                      <a:endParaRPr lang="en-US" sz="1400" dirty="0"/>
                    </a:p>
                  </a:txBody>
                  <a:tcPr marT="91440" marB="9144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Query</a:t>
                      </a:r>
                      <a:endParaRPr lang="en-US" sz="1400" dirty="0"/>
                    </a:p>
                  </a:txBody>
                  <a:tcPr marT="91440" marB="9144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Database</a:t>
                      </a:r>
                      <a:endParaRPr lang="en-US" sz="1400" dirty="0"/>
                    </a:p>
                  </a:txBody>
                  <a:tcPr marT="91440" marB="9144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Use it to...</a:t>
                      </a:r>
                      <a:endParaRPr lang="en-US" sz="1400" dirty="0"/>
                    </a:p>
                  </a:txBody>
                  <a:tcPr marT="91440" marB="9144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blastn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DNA / RNA</a:t>
                      </a:r>
                      <a:endParaRPr lang="en-US" sz="1400" dirty="0"/>
                    </a:p>
                  </a:txBody>
                  <a:tcPr marT="91440" marB="9144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DNA</a:t>
                      </a:r>
                      <a:endParaRPr lang="en-US" sz="1400" dirty="0"/>
                    </a:p>
                  </a:txBody>
                  <a:tcPr marT="91440" marB="9144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Identify a nucleotide sequence, find close relatives</a:t>
                      </a:r>
                      <a:endParaRPr lang="en-US" sz="1400" dirty="0"/>
                    </a:p>
                  </a:txBody>
                  <a:tcPr marT="91440" marB="9144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blastp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Protein</a:t>
                      </a:r>
                      <a:endParaRPr lang="en-US" sz="1400" dirty="0"/>
                    </a:p>
                  </a:txBody>
                  <a:tcPr marT="91440" marB="9144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Protein</a:t>
                      </a:r>
                      <a:endParaRPr lang="en-US" sz="1400" dirty="0"/>
                    </a:p>
                  </a:txBody>
                  <a:tcPr marT="91440" marB="9144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Find homologous proteins, guess function</a:t>
                      </a:r>
                      <a:endParaRPr lang="en-US" sz="1400" dirty="0"/>
                    </a:p>
                  </a:txBody>
                  <a:tcPr marT="91440" marB="9144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blastx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DNA, translated in 6 frames</a:t>
                      </a:r>
                      <a:endParaRPr lang="en-US" sz="1400" dirty="0"/>
                    </a:p>
                  </a:txBody>
                  <a:tcPr marT="91440" marB="9144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Protein</a:t>
                      </a:r>
                      <a:endParaRPr lang="en-US" sz="1400" dirty="0"/>
                    </a:p>
                  </a:txBody>
                  <a:tcPr marT="91440" marB="9144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Unknown DNA: which protein could it encode?</a:t>
                      </a:r>
                      <a:endParaRPr lang="en-US" sz="1400" dirty="0"/>
                    </a:p>
                  </a:txBody>
                  <a:tcPr marT="91440" marB="9144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variants-note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7143"/>
            </a:avLst>
          </a:prstGeom>
          <a:solidFill>
            <a:schemeClr val="accent2"/>
          </a:solidFill>
          <a:ln/>
        </p:spPr>
      </p:sp>
      <p:sp>
        <p:nvSpPr>
          <p:cNvPr id="3" name="Text 2"/>
          <p:cNvSpPr txBox="1"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Tip: protein searches detect distant relatives better than DNA searches. Also exist: tblastn and tblastx.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Seed-and-Extend: 3 Steps</a:t>
            </a:r>
            <a:endParaRPr lang="en-US" sz="3400" dirty="0"/>
          </a:p>
        </p:txBody>
      </p:sp>
      <p:sp>
        <p:nvSpPr>
          <p:cNvPr id="3" name="step-card"/>
          <p:cNvSpPr/>
          <p:nvPr/>
        </p:nvSpPr>
        <p:spPr>
          <a:xfrm>
            <a:off x="457200" y="128016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4" name="number-badge"/>
          <p:cNvSpPr/>
          <p:nvPr/>
        </p:nvSpPr>
        <p:spPr>
          <a:xfrm>
            <a:off x="685800" y="15087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number-text"/>
          <p:cNvSpPr txBox="1"/>
          <p:nvPr/>
        </p:nvSpPr>
        <p:spPr>
          <a:xfrm>
            <a:off x="6858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Seed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517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Cut the query into short "words" (about 3 letters for proteins, 11 for DNA). Find where a word matches the database.</a:t>
            </a:r>
            <a:endParaRPr lang="en-US" sz="1400" dirty="0"/>
          </a:p>
        </p:txBody>
      </p:sp>
      <p:sp>
        <p:nvSpPr>
          <p:cNvPr id="8" name="step-arrow"/>
          <p:cNvSpPr/>
          <p:nvPr/>
        </p:nvSpPr>
        <p:spPr>
          <a:xfrm>
            <a:off x="3035808" y="2514600"/>
            <a:ext cx="237744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9" name="step-card"/>
          <p:cNvSpPr/>
          <p:nvPr/>
        </p:nvSpPr>
        <p:spPr>
          <a:xfrm>
            <a:off x="3291840" y="128016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0" name="number-badge"/>
          <p:cNvSpPr/>
          <p:nvPr/>
        </p:nvSpPr>
        <p:spPr>
          <a:xfrm>
            <a:off x="3520440" y="15087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number-text"/>
          <p:cNvSpPr txBox="1"/>
          <p:nvPr/>
        </p:nvSpPr>
        <p:spPr>
          <a:xfrm>
            <a:off x="35204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194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Extend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6517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From each seed, grow the alignment left and right, adding up the score. Stop when the score drops too far (X-drop).</a:t>
            </a:r>
            <a:endParaRPr lang="en-US" sz="1400" dirty="0"/>
          </a:p>
        </p:txBody>
      </p:sp>
      <p:sp>
        <p:nvSpPr>
          <p:cNvPr id="14" name="step-arrow"/>
          <p:cNvSpPr/>
          <p:nvPr/>
        </p:nvSpPr>
        <p:spPr>
          <a:xfrm>
            <a:off x="5870448" y="2514600"/>
            <a:ext cx="237744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5" name="step-card"/>
          <p:cNvSpPr/>
          <p:nvPr/>
        </p:nvSpPr>
        <p:spPr>
          <a:xfrm>
            <a:off x="6126480" y="128016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6" name="number-badge"/>
          <p:cNvSpPr/>
          <p:nvPr/>
        </p:nvSpPr>
        <p:spPr>
          <a:xfrm>
            <a:off x="6355080" y="15087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number-text"/>
          <p:cNvSpPr txBox="1"/>
          <p:nvPr/>
        </p:nvSpPr>
        <p:spPr>
          <a:xfrm>
            <a:off x="63550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2194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Score &amp; report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6517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Keep the best local alignments (HSPs). Convert scores to bit scores and E-values, then rank the hits.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For proteins, "neighbor" words that score high with BLOSUM62 also count as seeds, not only exact matches.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Seed-and-Extend Example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173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Query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945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Subject</a:t>
            </a:r>
            <a:endParaRPr lang="en-US" sz="1400" dirty="0"/>
          </a:p>
        </p:txBody>
      </p:sp>
      <p:sp>
        <p:nvSpPr>
          <p:cNvPr id="5" name="aln-cell"/>
          <p:cNvSpPr/>
          <p:nvPr/>
        </p:nvSpPr>
        <p:spPr>
          <a:xfrm>
            <a:off x="1234440" y="1417320"/>
            <a:ext cx="384048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aln-letter"/>
          <p:cNvSpPr txBox="1"/>
          <p:nvPr/>
        </p:nvSpPr>
        <p:spPr>
          <a:xfrm>
            <a:off x="1234440" y="141732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800" dirty="0"/>
          </a:p>
        </p:txBody>
      </p:sp>
      <p:sp>
        <p:nvSpPr>
          <p:cNvPr id="7" name="aln-cell"/>
          <p:cNvSpPr/>
          <p:nvPr/>
        </p:nvSpPr>
        <p:spPr>
          <a:xfrm>
            <a:off x="1234440" y="2194560"/>
            <a:ext cx="384048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aln-letter"/>
          <p:cNvSpPr txBox="1"/>
          <p:nvPr/>
        </p:nvSpPr>
        <p:spPr>
          <a:xfrm>
            <a:off x="1234440" y="21945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match-bar"/>
          <p:cNvSpPr txBox="1"/>
          <p:nvPr/>
        </p:nvSpPr>
        <p:spPr>
          <a:xfrm>
            <a:off x="1234440" y="18288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0" name="aln-cell"/>
          <p:cNvSpPr/>
          <p:nvPr/>
        </p:nvSpPr>
        <p:spPr>
          <a:xfrm>
            <a:off x="1655064" y="1417320"/>
            <a:ext cx="384048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aln-letter"/>
          <p:cNvSpPr txBox="1"/>
          <p:nvPr/>
        </p:nvSpPr>
        <p:spPr>
          <a:xfrm>
            <a:off x="1655064" y="141732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800" dirty="0"/>
          </a:p>
        </p:txBody>
      </p:sp>
      <p:sp>
        <p:nvSpPr>
          <p:cNvPr id="12" name="aln-cell"/>
          <p:cNvSpPr/>
          <p:nvPr/>
        </p:nvSpPr>
        <p:spPr>
          <a:xfrm>
            <a:off x="1655064" y="2194560"/>
            <a:ext cx="384048" cy="411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aln-letter"/>
          <p:cNvSpPr txBox="1"/>
          <p:nvPr/>
        </p:nvSpPr>
        <p:spPr>
          <a:xfrm>
            <a:off x="1655064" y="21945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800" dirty="0"/>
          </a:p>
        </p:txBody>
      </p:sp>
      <p:sp>
        <p:nvSpPr>
          <p:cNvPr id="14" name="match-bar"/>
          <p:cNvSpPr txBox="1"/>
          <p:nvPr/>
        </p:nvSpPr>
        <p:spPr>
          <a:xfrm>
            <a:off x="1655064" y="18288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5" name="aln-cell"/>
          <p:cNvSpPr/>
          <p:nvPr/>
        </p:nvSpPr>
        <p:spPr>
          <a:xfrm>
            <a:off x="2075688" y="1417320"/>
            <a:ext cx="384048" cy="4114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6" name="aln-letter"/>
          <p:cNvSpPr txBox="1"/>
          <p:nvPr/>
        </p:nvSpPr>
        <p:spPr>
          <a:xfrm>
            <a:off x="2075688" y="141732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800" dirty="0"/>
          </a:p>
        </p:txBody>
      </p:sp>
      <p:sp>
        <p:nvSpPr>
          <p:cNvPr id="17" name="aln-cell"/>
          <p:cNvSpPr/>
          <p:nvPr/>
        </p:nvSpPr>
        <p:spPr>
          <a:xfrm>
            <a:off x="2075688" y="2194560"/>
            <a:ext cx="384048" cy="4114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8" name="aln-letter"/>
          <p:cNvSpPr txBox="1"/>
          <p:nvPr/>
        </p:nvSpPr>
        <p:spPr>
          <a:xfrm>
            <a:off x="2075688" y="21945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800" dirty="0"/>
          </a:p>
        </p:txBody>
      </p:sp>
      <p:sp>
        <p:nvSpPr>
          <p:cNvPr id="19" name="match-bar"/>
          <p:cNvSpPr txBox="1"/>
          <p:nvPr/>
        </p:nvSpPr>
        <p:spPr>
          <a:xfrm>
            <a:off x="2075688" y="18288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600" dirty="0"/>
          </a:p>
        </p:txBody>
      </p:sp>
      <p:sp>
        <p:nvSpPr>
          <p:cNvPr id="20" name="aln-cell"/>
          <p:cNvSpPr/>
          <p:nvPr/>
        </p:nvSpPr>
        <p:spPr>
          <a:xfrm>
            <a:off x="2496312" y="1417320"/>
            <a:ext cx="384048" cy="4114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1" name="aln-letter"/>
          <p:cNvSpPr txBox="1"/>
          <p:nvPr/>
        </p:nvSpPr>
        <p:spPr>
          <a:xfrm>
            <a:off x="2496312" y="141732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00" dirty="0"/>
          </a:p>
        </p:txBody>
      </p:sp>
      <p:sp>
        <p:nvSpPr>
          <p:cNvPr id="22" name="aln-cell"/>
          <p:cNvSpPr/>
          <p:nvPr/>
        </p:nvSpPr>
        <p:spPr>
          <a:xfrm>
            <a:off x="2496312" y="2194560"/>
            <a:ext cx="384048" cy="4114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3" name="aln-letter"/>
          <p:cNvSpPr txBox="1"/>
          <p:nvPr/>
        </p:nvSpPr>
        <p:spPr>
          <a:xfrm>
            <a:off x="2496312" y="21945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00" dirty="0"/>
          </a:p>
        </p:txBody>
      </p:sp>
      <p:sp>
        <p:nvSpPr>
          <p:cNvPr id="24" name="match-bar"/>
          <p:cNvSpPr txBox="1"/>
          <p:nvPr/>
        </p:nvSpPr>
        <p:spPr>
          <a:xfrm>
            <a:off x="2496312" y="18288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600" dirty="0"/>
          </a:p>
        </p:txBody>
      </p:sp>
      <p:sp>
        <p:nvSpPr>
          <p:cNvPr id="25" name="aln-cell"/>
          <p:cNvSpPr/>
          <p:nvPr/>
        </p:nvSpPr>
        <p:spPr>
          <a:xfrm>
            <a:off x="2916936" y="1417320"/>
            <a:ext cx="384048" cy="4114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6" name="aln-letter"/>
          <p:cNvSpPr txBox="1"/>
          <p:nvPr/>
        </p:nvSpPr>
        <p:spPr>
          <a:xfrm>
            <a:off x="2916936" y="141732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800" dirty="0"/>
          </a:p>
        </p:txBody>
      </p:sp>
      <p:sp>
        <p:nvSpPr>
          <p:cNvPr id="27" name="aln-cell"/>
          <p:cNvSpPr/>
          <p:nvPr/>
        </p:nvSpPr>
        <p:spPr>
          <a:xfrm>
            <a:off x="2916936" y="2194560"/>
            <a:ext cx="384048" cy="4114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8" name="aln-letter"/>
          <p:cNvSpPr txBox="1"/>
          <p:nvPr/>
        </p:nvSpPr>
        <p:spPr>
          <a:xfrm>
            <a:off x="2916936" y="21945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800" dirty="0"/>
          </a:p>
        </p:txBody>
      </p:sp>
      <p:sp>
        <p:nvSpPr>
          <p:cNvPr id="29" name="match-bar"/>
          <p:cNvSpPr txBox="1"/>
          <p:nvPr/>
        </p:nvSpPr>
        <p:spPr>
          <a:xfrm>
            <a:off x="2916936" y="18288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600" dirty="0"/>
          </a:p>
        </p:txBody>
      </p:sp>
      <p:sp>
        <p:nvSpPr>
          <p:cNvPr id="30" name="aln-cell"/>
          <p:cNvSpPr/>
          <p:nvPr/>
        </p:nvSpPr>
        <p:spPr>
          <a:xfrm>
            <a:off x="3337560" y="1417320"/>
            <a:ext cx="384048" cy="4114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1" name="aln-letter"/>
          <p:cNvSpPr txBox="1"/>
          <p:nvPr/>
        </p:nvSpPr>
        <p:spPr>
          <a:xfrm>
            <a:off x="3337560" y="141732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800" dirty="0"/>
          </a:p>
        </p:txBody>
      </p:sp>
      <p:sp>
        <p:nvSpPr>
          <p:cNvPr id="32" name="aln-cell"/>
          <p:cNvSpPr/>
          <p:nvPr/>
        </p:nvSpPr>
        <p:spPr>
          <a:xfrm>
            <a:off x="3337560" y="2194560"/>
            <a:ext cx="384048" cy="4114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3" name="aln-letter"/>
          <p:cNvSpPr txBox="1"/>
          <p:nvPr/>
        </p:nvSpPr>
        <p:spPr>
          <a:xfrm>
            <a:off x="3337560" y="21945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800" dirty="0"/>
          </a:p>
        </p:txBody>
      </p:sp>
      <p:sp>
        <p:nvSpPr>
          <p:cNvPr id="34" name="match-bar"/>
          <p:cNvSpPr txBox="1"/>
          <p:nvPr/>
        </p:nvSpPr>
        <p:spPr>
          <a:xfrm>
            <a:off x="3337560" y="18288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600" dirty="0"/>
          </a:p>
        </p:txBody>
      </p:sp>
      <p:sp>
        <p:nvSpPr>
          <p:cNvPr id="35" name="aln-cell"/>
          <p:cNvSpPr/>
          <p:nvPr/>
        </p:nvSpPr>
        <p:spPr>
          <a:xfrm>
            <a:off x="3758184" y="1417320"/>
            <a:ext cx="384048" cy="4114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6" name="aln-letter"/>
          <p:cNvSpPr txBox="1"/>
          <p:nvPr/>
        </p:nvSpPr>
        <p:spPr>
          <a:xfrm>
            <a:off x="3758184" y="141732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800" dirty="0"/>
          </a:p>
        </p:txBody>
      </p:sp>
      <p:sp>
        <p:nvSpPr>
          <p:cNvPr id="37" name="aln-cell"/>
          <p:cNvSpPr/>
          <p:nvPr/>
        </p:nvSpPr>
        <p:spPr>
          <a:xfrm>
            <a:off x="3758184" y="2194560"/>
            <a:ext cx="384048" cy="4114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8" name="aln-letter"/>
          <p:cNvSpPr txBox="1"/>
          <p:nvPr/>
        </p:nvSpPr>
        <p:spPr>
          <a:xfrm>
            <a:off x="3758184" y="21945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800" dirty="0"/>
          </a:p>
        </p:txBody>
      </p:sp>
      <p:sp>
        <p:nvSpPr>
          <p:cNvPr id="39" name="match-bar"/>
          <p:cNvSpPr txBox="1"/>
          <p:nvPr/>
        </p:nvSpPr>
        <p:spPr>
          <a:xfrm>
            <a:off x="3758184" y="18288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600" dirty="0"/>
          </a:p>
        </p:txBody>
      </p:sp>
      <p:sp>
        <p:nvSpPr>
          <p:cNvPr id="40" name="aln-cell"/>
          <p:cNvSpPr/>
          <p:nvPr/>
        </p:nvSpPr>
        <p:spPr>
          <a:xfrm>
            <a:off x="4178808" y="1417320"/>
            <a:ext cx="384048" cy="4114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1" name="aln-letter"/>
          <p:cNvSpPr txBox="1"/>
          <p:nvPr/>
        </p:nvSpPr>
        <p:spPr>
          <a:xfrm>
            <a:off x="4178808" y="141732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00" dirty="0"/>
          </a:p>
        </p:txBody>
      </p:sp>
      <p:sp>
        <p:nvSpPr>
          <p:cNvPr id="42" name="aln-cell"/>
          <p:cNvSpPr/>
          <p:nvPr/>
        </p:nvSpPr>
        <p:spPr>
          <a:xfrm>
            <a:off x="4178808" y="2194560"/>
            <a:ext cx="384048" cy="4114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3" name="aln-letter"/>
          <p:cNvSpPr txBox="1"/>
          <p:nvPr/>
        </p:nvSpPr>
        <p:spPr>
          <a:xfrm>
            <a:off x="4178808" y="21945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00" dirty="0"/>
          </a:p>
        </p:txBody>
      </p:sp>
      <p:sp>
        <p:nvSpPr>
          <p:cNvPr id="44" name="match-bar"/>
          <p:cNvSpPr txBox="1"/>
          <p:nvPr/>
        </p:nvSpPr>
        <p:spPr>
          <a:xfrm>
            <a:off x="4178808" y="18288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600" dirty="0"/>
          </a:p>
        </p:txBody>
      </p:sp>
      <p:sp>
        <p:nvSpPr>
          <p:cNvPr id="45" name="aln-cell"/>
          <p:cNvSpPr/>
          <p:nvPr/>
        </p:nvSpPr>
        <p:spPr>
          <a:xfrm>
            <a:off x="4599432" y="1417320"/>
            <a:ext cx="384048" cy="4114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6" name="aln-letter"/>
          <p:cNvSpPr txBox="1"/>
          <p:nvPr/>
        </p:nvSpPr>
        <p:spPr>
          <a:xfrm>
            <a:off x="4599432" y="141732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800" dirty="0"/>
          </a:p>
        </p:txBody>
      </p:sp>
      <p:sp>
        <p:nvSpPr>
          <p:cNvPr id="47" name="aln-cell"/>
          <p:cNvSpPr/>
          <p:nvPr/>
        </p:nvSpPr>
        <p:spPr>
          <a:xfrm>
            <a:off x="4599432" y="2194560"/>
            <a:ext cx="384048" cy="4114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8" name="aln-letter"/>
          <p:cNvSpPr txBox="1"/>
          <p:nvPr/>
        </p:nvSpPr>
        <p:spPr>
          <a:xfrm>
            <a:off x="4599432" y="21945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800" dirty="0"/>
          </a:p>
        </p:txBody>
      </p:sp>
      <p:sp>
        <p:nvSpPr>
          <p:cNvPr id="49" name="match-bar"/>
          <p:cNvSpPr txBox="1"/>
          <p:nvPr/>
        </p:nvSpPr>
        <p:spPr>
          <a:xfrm>
            <a:off x="4599432" y="18288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600" dirty="0"/>
          </a:p>
        </p:txBody>
      </p:sp>
      <p:sp>
        <p:nvSpPr>
          <p:cNvPr id="50" name="aln-cell"/>
          <p:cNvSpPr/>
          <p:nvPr/>
        </p:nvSpPr>
        <p:spPr>
          <a:xfrm>
            <a:off x="5020056" y="1417320"/>
            <a:ext cx="384048" cy="4114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1" name="aln-letter"/>
          <p:cNvSpPr txBox="1"/>
          <p:nvPr/>
        </p:nvSpPr>
        <p:spPr>
          <a:xfrm>
            <a:off x="5020056" y="141732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800" dirty="0"/>
          </a:p>
        </p:txBody>
      </p:sp>
      <p:sp>
        <p:nvSpPr>
          <p:cNvPr id="52" name="aln-cell"/>
          <p:cNvSpPr/>
          <p:nvPr/>
        </p:nvSpPr>
        <p:spPr>
          <a:xfrm>
            <a:off x="5020056" y="2194560"/>
            <a:ext cx="384048" cy="4114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3" name="aln-letter"/>
          <p:cNvSpPr txBox="1"/>
          <p:nvPr/>
        </p:nvSpPr>
        <p:spPr>
          <a:xfrm>
            <a:off x="5020056" y="21945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800" dirty="0"/>
          </a:p>
        </p:txBody>
      </p:sp>
      <p:sp>
        <p:nvSpPr>
          <p:cNvPr id="54" name="match-bar"/>
          <p:cNvSpPr txBox="1"/>
          <p:nvPr/>
        </p:nvSpPr>
        <p:spPr>
          <a:xfrm>
            <a:off x="5020056" y="18288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600" dirty="0"/>
          </a:p>
        </p:txBody>
      </p:sp>
      <p:sp>
        <p:nvSpPr>
          <p:cNvPr id="55" name="aln-cell"/>
          <p:cNvSpPr/>
          <p:nvPr/>
        </p:nvSpPr>
        <p:spPr>
          <a:xfrm>
            <a:off x="5440680" y="1417320"/>
            <a:ext cx="384048" cy="4114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6" name="aln-letter"/>
          <p:cNvSpPr txBox="1"/>
          <p:nvPr/>
        </p:nvSpPr>
        <p:spPr>
          <a:xfrm>
            <a:off x="5440680" y="141732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800" dirty="0"/>
          </a:p>
        </p:txBody>
      </p:sp>
      <p:sp>
        <p:nvSpPr>
          <p:cNvPr id="57" name="aln-cell"/>
          <p:cNvSpPr/>
          <p:nvPr/>
        </p:nvSpPr>
        <p:spPr>
          <a:xfrm>
            <a:off x="5440680" y="2194560"/>
            <a:ext cx="384048" cy="4114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8" name="aln-letter"/>
          <p:cNvSpPr txBox="1"/>
          <p:nvPr/>
        </p:nvSpPr>
        <p:spPr>
          <a:xfrm>
            <a:off x="5440680" y="21945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800" dirty="0"/>
          </a:p>
        </p:txBody>
      </p:sp>
      <p:sp>
        <p:nvSpPr>
          <p:cNvPr id="59" name="match-bar"/>
          <p:cNvSpPr txBox="1"/>
          <p:nvPr/>
        </p:nvSpPr>
        <p:spPr>
          <a:xfrm>
            <a:off x="5440680" y="18288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600" dirty="0"/>
          </a:p>
        </p:txBody>
      </p:sp>
      <p:sp>
        <p:nvSpPr>
          <p:cNvPr id="60" name="aln-cell"/>
          <p:cNvSpPr/>
          <p:nvPr/>
        </p:nvSpPr>
        <p:spPr>
          <a:xfrm>
            <a:off x="5861304" y="1417320"/>
            <a:ext cx="384048" cy="4114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61" name="aln-letter"/>
          <p:cNvSpPr txBox="1"/>
          <p:nvPr/>
        </p:nvSpPr>
        <p:spPr>
          <a:xfrm>
            <a:off x="5861304" y="141732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00" dirty="0"/>
          </a:p>
        </p:txBody>
      </p:sp>
      <p:sp>
        <p:nvSpPr>
          <p:cNvPr id="62" name="aln-cell"/>
          <p:cNvSpPr/>
          <p:nvPr/>
        </p:nvSpPr>
        <p:spPr>
          <a:xfrm>
            <a:off x="5861304" y="2194560"/>
            <a:ext cx="384048" cy="4114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63" name="aln-letter"/>
          <p:cNvSpPr txBox="1"/>
          <p:nvPr/>
        </p:nvSpPr>
        <p:spPr>
          <a:xfrm>
            <a:off x="5861304" y="21945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800" dirty="0"/>
          </a:p>
        </p:txBody>
      </p:sp>
      <p:sp>
        <p:nvSpPr>
          <p:cNvPr id="64" name="match-bar"/>
          <p:cNvSpPr txBox="1"/>
          <p:nvPr/>
        </p:nvSpPr>
        <p:spPr>
          <a:xfrm>
            <a:off x="5861304" y="18288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65" name="aln-cell"/>
          <p:cNvSpPr/>
          <p:nvPr/>
        </p:nvSpPr>
        <p:spPr>
          <a:xfrm>
            <a:off x="6281928" y="1417320"/>
            <a:ext cx="384048" cy="4114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6" name="aln-letter"/>
          <p:cNvSpPr txBox="1"/>
          <p:nvPr/>
        </p:nvSpPr>
        <p:spPr>
          <a:xfrm>
            <a:off x="6281928" y="141732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800" dirty="0"/>
          </a:p>
        </p:txBody>
      </p:sp>
      <p:sp>
        <p:nvSpPr>
          <p:cNvPr id="67" name="aln-cell"/>
          <p:cNvSpPr/>
          <p:nvPr/>
        </p:nvSpPr>
        <p:spPr>
          <a:xfrm>
            <a:off x="6281928" y="2194560"/>
            <a:ext cx="384048" cy="4114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8" name="aln-letter"/>
          <p:cNvSpPr txBox="1"/>
          <p:nvPr/>
        </p:nvSpPr>
        <p:spPr>
          <a:xfrm>
            <a:off x="6281928" y="21945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800" dirty="0"/>
          </a:p>
        </p:txBody>
      </p:sp>
      <p:sp>
        <p:nvSpPr>
          <p:cNvPr id="69" name="match-bar"/>
          <p:cNvSpPr txBox="1"/>
          <p:nvPr/>
        </p:nvSpPr>
        <p:spPr>
          <a:xfrm>
            <a:off x="6281928" y="18288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600" dirty="0"/>
          </a:p>
        </p:txBody>
      </p:sp>
      <p:sp>
        <p:nvSpPr>
          <p:cNvPr id="70" name="aln-cell"/>
          <p:cNvSpPr/>
          <p:nvPr/>
        </p:nvSpPr>
        <p:spPr>
          <a:xfrm>
            <a:off x="6702552" y="1417320"/>
            <a:ext cx="384048" cy="4114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71" name="aln-letter"/>
          <p:cNvSpPr txBox="1"/>
          <p:nvPr/>
        </p:nvSpPr>
        <p:spPr>
          <a:xfrm>
            <a:off x="6702552" y="141732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800" dirty="0"/>
          </a:p>
        </p:txBody>
      </p:sp>
      <p:sp>
        <p:nvSpPr>
          <p:cNvPr id="72" name="aln-cell"/>
          <p:cNvSpPr/>
          <p:nvPr/>
        </p:nvSpPr>
        <p:spPr>
          <a:xfrm>
            <a:off x="6702552" y="2194560"/>
            <a:ext cx="384048" cy="4114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73" name="aln-letter"/>
          <p:cNvSpPr txBox="1"/>
          <p:nvPr/>
        </p:nvSpPr>
        <p:spPr>
          <a:xfrm>
            <a:off x="6702552" y="21945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800" dirty="0"/>
          </a:p>
        </p:txBody>
      </p:sp>
      <p:sp>
        <p:nvSpPr>
          <p:cNvPr id="74" name="match-bar"/>
          <p:cNvSpPr txBox="1"/>
          <p:nvPr/>
        </p:nvSpPr>
        <p:spPr>
          <a:xfrm>
            <a:off x="6702552" y="18288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600" dirty="0"/>
          </a:p>
        </p:txBody>
      </p:sp>
      <p:sp>
        <p:nvSpPr>
          <p:cNvPr id="75" name="aln-cell"/>
          <p:cNvSpPr/>
          <p:nvPr/>
        </p:nvSpPr>
        <p:spPr>
          <a:xfrm>
            <a:off x="7123176" y="1417320"/>
            <a:ext cx="384048" cy="4114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76" name="aln-letter"/>
          <p:cNvSpPr txBox="1"/>
          <p:nvPr/>
        </p:nvSpPr>
        <p:spPr>
          <a:xfrm>
            <a:off x="7123176" y="141732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800" dirty="0"/>
          </a:p>
        </p:txBody>
      </p:sp>
      <p:sp>
        <p:nvSpPr>
          <p:cNvPr id="77" name="aln-cell"/>
          <p:cNvSpPr/>
          <p:nvPr/>
        </p:nvSpPr>
        <p:spPr>
          <a:xfrm>
            <a:off x="7123176" y="2194560"/>
            <a:ext cx="384048" cy="4114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78" name="aln-letter"/>
          <p:cNvSpPr txBox="1"/>
          <p:nvPr/>
        </p:nvSpPr>
        <p:spPr>
          <a:xfrm>
            <a:off x="7123176" y="21945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800" dirty="0"/>
          </a:p>
        </p:txBody>
      </p:sp>
      <p:sp>
        <p:nvSpPr>
          <p:cNvPr id="79" name="match-bar"/>
          <p:cNvSpPr txBox="1"/>
          <p:nvPr/>
        </p:nvSpPr>
        <p:spPr>
          <a:xfrm>
            <a:off x="7123176" y="18288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600" dirty="0"/>
          </a:p>
        </p:txBody>
      </p:sp>
      <p:sp>
        <p:nvSpPr>
          <p:cNvPr id="80" name="aln-cell"/>
          <p:cNvSpPr/>
          <p:nvPr/>
        </p:nvSpPr>
        <p:spPr>
          <a:xfrm>
            <a:off x="7543800" y="1417320"/>
            <a:ext cx="384048" cy="4114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81" name="aln-letter"/>
          <p:cNvSpPr txBox="1"/>
          <p:nvPr/>
        </p:nvSpPr>
        <p:spPr>
          <a:xfrm>
            <a:off x="7543800" y="141732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800" dirty="0"/>
          </a:p>
        </p:txBody>
      </p:sp>
      <p:sp>
        <p:nvSpPr>
          <p:cNvPr id="82" name="aln-cell"/>
          <p:cNvSpPr/>
          <p:nvPr/>
        </p:nvSpPr>
        <p:spPr>
          <a:xfrm>
            <a:off x="7543800" y="2194560"/>
            <a:ext cx="384048" cy="4114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83" name="aln-letter"/>
          <p:cNvSpPr txBox="1"/>
          <p:nvPr/>
        </p:nvSpPr>
        <p:spPr>
          <a:xfrm>
            <a:off x="7543800" y="21945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00" dirty="0"/>
          </a:p>
        </p:txBody>
      </p:sp>
      <p:sp>
        <p:nvSpPr>
          <p:cNvPr id="84" name="match-bar"/>
          <p:cNvSpPr txBox="1"/>
          <p:nvPr/>
        </p:nvSpPr>
        <p:spPr>
          <a:xfrm>
            <a:off x="7543800" y="18288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5" name="aln-cell"/>
          <p:cNvSpPr/>
          <p:nvPr/>
        </p:nvSpPr>
        <p:spPr>
          <a:xfrm>
            <a:off x="7964424" y="1417320"/>
            <a:ext cx="384048" cy="4114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86" name="aln-letter"/>
          <p:cNvSpPr txBox="1"/>
          <p:nvPr/>
        </p:nvSpPr>
        <p:spPr>
          <a:xfrm>
            <a:off x="7964424" y="141732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800" dirty="0"/>
          </a:p>
        </p:txBody>
      </p:sp>
      <p:sp>
        <p:nvSpPr>
          <p:cNvPr id="87" name="aln-cell"/>
          <p:cNvSpPr/>
          <p:nvPr/>
        </p:nvSpPr>
        <p:spPr>
          <a:xfrm>
            <a:off x="7964424" y="2194560"/>
            <a:ext cx="384048" cy="4114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88" name="aln-letter"/>
          <p:cNvSpPr txBox="1"/>
          <p:nvPr/>
        </p:nvSpPr>
        <p:spPr>
          <a:xfrm>
            <a:off x="7964424" y="21945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800" dirty="0"/>
          </a:p>
        </p:txBody>
      </p:sp>
      <p:sp>
        <p:nvSpPr>
          <p:cNvPr id="89" name="match-bar"/>
          <p:cNvSpPr txBox="1"/>
          <p:nvPr/>
        </p:nvSpPr>
        <p:spPr>
          <a:xfrm>
            <a:off x="7964424" y="18288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600" dirty="0"/>
          </a:p>
        </p:txBody>
      </p:sp>
      <p:sp>
        <p:nvSpPr>
          <p:cNvPr id="90" name="legend-card"/>
          <p:cNvSpPr/>
          <p:nvPr/>
        </p:nvSpPr>
        <p:spPr>
          <a:xfrm>
            <a:off x="457200" y="301752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91" name="legend-swatch"/>
          <p:cNvSpPr/>
          <p:nvPr/>
        </p:nvSpPr>
        <p:spPr>
          <a:xfrm>
            <a:off x="640080" y="3200400"/>
            <a:ext cx="274320" cy="2743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1051560" y="31729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Seed</a:t>
            </a:r>
            <a:endParaRPr lang="en-US" sz="1600" dirty="0"/>
          </a:p>
        </p:txBody>
      </p:sp>
      <p:sp>
        <p:nvSpPr>
          <p:cNvPr id="93" name="Text 91"/>
          <p:cNvSpPr txBox="1"/>
          <p:nvPr/>
        </p:nvSpPr>
        <p:spPr>
          <a:xfrm>
            <a:off x="640080" y="36118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run of exact matches (here 9 letters) is found: a hit!</a:t>
            </a:r>
            <a:endParaRPr lang="en-US" sz="1400" dirty="0"/>
          </a:p>
        </p:txBody>
      </p:sp>
      <p:sp>
        <p:nvSpPr>
          <p:cNvPr id="94" name="legend-card"/>
          <p:cNvSpPr/>
          <p:nvPr/>
        </p:nvSpPr>
        <p:spPr>
          <a:xfrm>
            <a:off x="3291840" y="301752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95" name="legend-swatch"/>
          <p:cNvSpPr/>
          <p:nvPr/>
        </p:nvSpPr>
        <p:spPr>
          <a:xfrm>
            <a:off x="3474720" y="3200400"/>
            <a:ext cx="274320" cy="2743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3886200" y="31729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Extend</a:t>
            </a:r>
            <a:endParaRPr lang="en-US" sz="1600" dirty="0"/>
          </a:p>
        </p:txBody>
      </p:sp>
      <p:sp>
        <p:nvSpPr>
          <p:cNvPr id="97" name="Text 95"/>
          <p:cNvSpPr txBox="1"/>
          <p:nvPr/>
        </p:nvSpPr>
        <p:spPr>
          <a:xfrm>
            <a:off x="3474720" y="36118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Keep going right: matching letters raise the score.</a:t>
            </a:r>
            <a:endParaRPr lang="en-US" sz="1400" dirty="0"/>
          </a:p>
        </p:txBody>
      </p:sp>
      <p:sp>
        <p:nvSpPr>
          <p:cNvPr id="98" name="legend-card"/>
          <p:cNvSpPr/>
          <p:nvPr/>
        </p:nvSpPr>
        <p:spPr>
          <a:xfrm>
            <a:off x="6126480" y="301752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99" name="legend-swatch"/>
          <p:cNvSpPr/>
          <p:nvPr/>
        </p:nvSpPr>
        <p:spPr>
          <a:xfrm>
            <a:off x="6309360" y="3200400"/>
            <a:ext cx="274320" cy="27432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6720840" y="31729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Mismatch</a:t>
            </a:r>
            <a:endParaRPr lang="en-US" sz="1600" dirty="0"/>
          </a:p>
        </p:txBody>
      </p:sp>
      <p:sp>
        <p:nvSpPr>
          <p:cNvPr id="101" name="Text 99"/>
          <p:cNvSpPr txBox="1"/>
          <p:nvPr/>
        </p:nvSpPr>
        <p:spPr>
          <a:xfrm>
            <a:off x="6309360" y="36118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Mismatches cost points. Extension stops when the total falls too far, as on the left.</a:t>
            </a:r>
            <a:endParaRPr lang="en-US" sz="1400" dirty="0"/>
          </a:p>
        </p:txBody>
      </p:sp>
      <p:sp>
        <p:nvSpPr>
          <p:cNvPr id="10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Bit Score</a:t>
            </a:r>
            <a:endParaRPr lang="en-US" sz="3400" dirty="0"/>
          </a:p>
        </p:txBody>
      </p:sp>
      <p:sp>
        <p:nvSpPr>
          <p:cNvPr id="3" name="raw-card"/>
          <p:cNvSpPr/>
          <p:nvPr/>
        </p:nvSpPr>
        <p:spPr>
          <a:xfrm>
            <a:off x="457200" y="1234440"/>
            <a:ext cx="365760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Raw score (S)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Add points for matches, subtract for mismatches and gaps, using a matrix like BLOSUM62.</a:t>
            </a:r>
            <a:endParaRPr lang="en-US" sz="1400" dirty="0"/>
          </a:p>
        </p:txBody>
      </p:sp>
      <p:sp>
        <p:nvSpPr>
          <p:cNvPr id="6" name="arrow"/>
          <p:cNvSpPr/>
          <p:nvPr/>
        </p:nvSpPr>
        <p:spPr>
          <a:xfrm>
            <a:off x="4224528" y="1874520"/>
            <a:ext cx="237744" cy="32004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7" name="bit-card"/>
          <p:cNvSpPr/>
          <p:nvPr/>
        </p:nvSpPr>
        <p:spPr>
          <a:xfrm>
            <a:off x="4572000" y="1234440"/>
            <a:ext cx="4114800" cy="1600200"/>
          </a:xfrm>
          <a:prstGeom prst="roundRect">
            <a:avLst>
              <a:gd name="adj" fmla="val 6857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54880" y="1325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Bit score (S′)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7373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The raw score rescaled to a standard unit, so scores from different searches can be compared.</a:t>
            </a:r>
            <a:endParaRPr lang="en-US" sz="1400" dirty="0"/>
          </a:p>
        </p:txBody>
      </p:sp>
      <p:sp>
        <p:nvSpPr>
          <p:cNvPr id="10" name="formula"/>
          <p:cNvSpPr/>
          <p:nvPr/>
        </p:nvSpPr>
        <p:spPr>
          <a:xfrm>
            <a:off x="457200" y="3017520"/>
            <a:ext cx="8229600" cy="54864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S′ = (λ · S − ln K) / ln 2        (λ and K come from the scoring system)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7947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Higher = better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251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bigger bit score means a stronger, less random match.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794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+1 bit = half the chance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4251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Each extra bit halves the chance of a random hit.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E-value: Chance Hits</a:t>
            </a:r>
            <a:endParaRPr lang="en-US" sz="3400" dirty="0"/>
          </a:p>
        </p:txBody>
      </p:sp>
      <p:sp>
        <p:nvSpPr>
          <p:cNvPr id="3" name="evalue-formula"/>
          <p:cNvSpPr/>
          <p:nvPr/>
        </p:nvSpPr>
        <p:spPr>
          <a:xfrm>
            <a:off x="457200" y="1188720"/>
            <a:ext cx="82296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m × n × 2</a:t>
            </a:r>
            <a:r>
              <a:rPr lang="en-US" sz="3000" b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−S′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280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 = query length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 = database size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S′ = bit score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E-value = how many hits this good you would expect by pure chance.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E = 0.001  →  about 1 chance hit in 1,000 searches</a:t>
            </a:r>
            <a:endParaRPr lang="en-US" sz="2000" dirty="0"/>
          </a:p>
        </p:txBody>
      </p:sp>
      <p:sp>
        <p:nvSpPr>
          <p:cNvPr id="8" name="band-card"/>
          <p:cNvSpPr/>
          <p:nvPr/>
        </p:nvSpPr>
        <p:spPr>
          <a:xfrm>
            <a:off x="457200" y="3291840"/>
            <a:ext cx="2560320" cy="109728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383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E &lt; 1e-10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Very strong: almost surely real</a:t>
            </a:r>
            <a:endParaRPr lang="en-US" sz="1400" dirty="0"/>
          </a:p>
        </p:txBody>
      </p:sp>
      <p:sp>
        <p:nvSpPr>
          <p:cNvPr id="11" name="band-card"/>
          <p:cNvSpPr/>
          <p:nvPr/>
        </p:nvSpPr>
        <p:spPr>
          <a:xfrm>
            <a:off x="3291840" y="3291840"/>
            <a:ext cx="2560320" cy="109728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74720" y="3383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1e-10 to 1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Grey zone: check more evidence</a:t>
            </a:r>
            <a:endParaRPr lang="en-US" sz="1400" dirty="0"/>
          </a:p>
        </p:txBody>
      </p:sp>
      <p:sp>
        <p:nvSpPr>
          <p:cNvPr id="14" name="band-card"/>
          <p:cNvSpPr/>
          <p:nvPr/>
        </p:nvSpPr>
        <p:spPr>
          <a:xfrm>
            <a:off x="6126480" y="3291840"/>
            <a:ext cx="2560320" cy="109728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3383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E ≥ 1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Likely just chance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480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Rule of thumb, not a law. Lower E = more significant; a bigger database gives a bigger 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Reading a BLAST Report</a:t>
            </a:r>
            <a:endParaRPr lang="en-US" sz="3400" dirty="0"/>
          </a:p>
        </p:txBody>
      </p:sp>
      <p:graphicFrame>
        <p:nvGraphicFramePr>
          <p:cNvPr id="10" name="repor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192024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Bit score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Query cover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E-value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Identity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Hemoglobin subunit alpha [Homo sapiens]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285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2e-98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Hemoglobin subunit alpha [Pan troglodytes]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284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4e-98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99%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Hemoglobin subunit alpha [Mus musculus]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231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6e-78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86%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Hypothetical protein [Bacterium Z]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33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28%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3.6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31%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question-card"/>
          <p:cNvSpPr/>
          <p:nvPr/>
        </p:nvSpPr>
        <p:spPr>
          <a:xfrm>
            <a:off x="457200" y="3337560"/>
            <a:ext cx="2560320" cy="914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34015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Bit score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7673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How strong is the match?</a:t>
            </a:r>
            <a:endParaRPr lang="en-US" sz="1400" dirty="0"/>
          </a:p>
        </p:txBody>
      </p:sp>
      <p:sp>
        <p:nvSpPr>
          <p:cNvPr id="7" name="question-card"/>
          <p:cNvSpPr/>
          <p:nvPr/>
        </p:nvSpPr>
        <p:spPr>
          <a:xfrm>
            <a:off x="3291840" y="3337560"/>
            <a:ext cx="2560320" cy="914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474720" y="34015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Query cover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3474720" y="37673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How much of my query is matched?</a:t>
            </a:r>
            <a:endParaRPr lang="en-US" sz="1400" dirty="0"/>
          </a:p>
        </p:txBody>
      </p:sp>
      <p:sp>
        <p:nvSpPr>
          <p:cNvPr id="3" name="question-card"/>
          <p:cNvSpPr/>
          <p:nvPr/>
        </p:nvSpPr>
        <p:spPr>
          <a:xfrm>
            <a:off x="6126480" y="3337560"/>
            <a:ext cx="2560320" cy="914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309360" y="34015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E-value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37673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Could this be chance?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434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Illustrative sample, not a real search. Row 4: low score, 28% coverage, E = 3.6 → probably chance.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Class Activities</a:t>
            </a:r>
            <a:endParaRPr lang="en-US" sz="3400" dirty="0"/>
          </a:p>
        </p:txBody>
      </p:sp>
      <p:sp>
        <p:nvSpPr>
          <p:cNvPr id="3" name="activity1"/>
          <p:cNvSpPr/>
          <p:nvPr/>
        </p:nvSpPr>
        <p:spPr>
          <a:xfrm>
            <a:off x="457200" y="1234440"/>
            <a:ext cx="40233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4" name="number-badge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number-text"/>
          <p:cNvSpPr txBox="1"/>
          <p:nvPr/>
        </p:nvSpPr>
        <p:spPr>
          <a:xfrm>
            <a:off x="685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Read the report, row by row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0312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Start with the top hit: note its bit score and E-value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Go down each row: how do the numbers change?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Check query cover and % identity too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Where do hits stop being convincing?</a:t>
            </a:r>
            <a:endParaRPr lang="en-US" sz="1500" dirty="0"/>
          </a:p>
        </p:txBody>
      </p:sp>
      <p:sp>
        <p:nvSpPr>
          <p:cNvPr id="8" name="activity2"/>
          <p:cNvSpPr/>
          <p:nvPr/>
        </p:nvSpPr>
        <p:spPr>
          <a:xfrm>
            <a:off x="4663440" y="1234440"/>
            <a:ext cx="4023360" cy="3291840"/>
          </a:xfrm>
          <a:prstGeom prst="roundRect">
            <a:avLst>
              <a:gd name="adj" fmla="val 3333"/>
            </a:avLst>
          </a:prstGeom>
          <a:solidFill>
            <a:schemeClr val="accent1"/>
          </a:solidFill>
          <a:ln/>
        </p:spPr>
      </p:sp>
      <p:sp>
        <p:nvSpPr>
          <p:cNvPr id="9" name="number-badge"/>
          <p:cNvSpPr/>
          <p:nvPr/>
        </p:nvSpPr>
        <p:spPr>
          <a:xfrm>
            <a:off x="4892040" y="14173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number-text"/>
          <p:cNvSpPr txBox="1"/>
          <p:nvPr/>
        </p:nvSpPr>
        <p:spPr>
          <a:xfrm>
            <a:off x="48920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Debate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1031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When should a low-confidence hit still be trusted?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29260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Team A: trust it. When, and why?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Team B: it is noise. What is the risk?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Think: short query, other evidence, many hits from one family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Lab: Run BLAST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Python · Biopython (NCBI web API)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 · parse local BLAST+ output</a:t>
            </a:r>
            <a:endParaRPr lang="en-US" sz="1600" dirty="0"/>
          </a:p>
        </p:txBody>
      </p:sp>
      <p:sp>
        <p:nvSpPr>
          <p:cNvPr id="5" name="code-python"/>
          <p:cNvSpPr/>
          <p:nvPr/>
        </p:nvSpPr>
        <p:spPr>
          <a:xfrm>
            <a:off x="457200" y="1554480"/>
            <a:ext cx="4023360" cy="2377440"/>
          </a:xfrm>
          <a:prstGeom prst="roundRect">
            <a:avLst>
              <a:gd name="adj" fmla="val 4615"/>
            </a:avLst>
          </a:prstGeom>
          <a:solidFill>
            <a:schemeClr val="accent1"/>
          </a:solidFill>
          <a:ln/>
        </p:spPr>
      </p:sp>
      <p:sp>
        <p:nvSpPr>
          <p:cNvPr id="6" name="code-r"/>
          <p:cNvSpPr/>
          <p:nvPr/>
        </p:nvSpPr>
        <p:spPr>
          <a:xfrm>
            <a:off x="4663440" y="1554480"/>
            <a:ext cx="4023360" cy="2377440"/>
          </a:xfrm>
          <a:prstGeom prst="roundRect">
            <a:avLst>
              <a:gd name="adj" fmla="val 4615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64592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Bio.Blast import NCBIWWW, NCBIXML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 = NCBIWWW.qblast("blastp", "nr", seq)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 = NCBIXML.read(res)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aln in rec.alignments[:5]: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 = aln.hsps[0]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print(aln.accession, h.bits, h.expect)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64592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blastp -query q.fa -db swissprot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-outfmt 6 -out hits.tsv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 &lt;- c("qseqid","sseqid","pident",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"length","mismatch","gapopen","qstart",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"qend","sstart","send","evalue","bitscore")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hits &lt;- read.table("hits.tsv", sep="\t",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col.names = cols)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head(hits[order(hits$evalue), ])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Web API: keep queries small and wait for the results.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Local BLAST+: faster for many sequences. Parse the table in 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Assignment</a:t>
            </a:r>
            <a:endParaRPr lang="en-US" sz="3400" dirty="0"/>
          </a:p>
        </p:txBody>
      </p:sp>
      <p:sp>
        <p:nvSpPr>
          <p:cNvPr id="3" name="task-card"/>
          <p:cNvSpPr/>
          <p:nvPr/>
        </p:nvSpPr>
        <p:spPr>
          <a:xfrm>
            <a:off x="457200" y="1280160"/>
            <a:ext cx="3291840" cy="3200400"/>
          </a:xfrm>
          <a:prstGeom prst="roundRect">
            <a:avLst>
              <a:gd name="adj" fmla="val 3429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3"/>
                </a:solidFill>
              </a:rPr>
              <a:t>YOUR TASK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</a:rPr>
              <a:t>BLAST an unknown sequence, identify its likely origin, and justify your call using the statistics.</a:t>
            </a:r>
            <a:endParaRPr lang="en-US" sz="2100" dirty="0"/>
          </a:p>
        </p:txBody>
      </p:sp>
      <p:sp>
        <p:nvSpPr>
          <p:cNvPr id="6" name="step-row"/>
          <p:cNvSpPr/>
          <p:nvPr/>
        </p:nvSpPr>
        <p:spPr>
          <a:xfrm>
            <a:off x="4023360" y="1280160"/>
            <a:ext cx="46634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7" name="number-badge"/>
          <p:cNvSpPr/>
          <p:nvPr/>
        </p:nvSpPr>
        <p:spPr>
          <a:xfrm>
            <a:off x="4206240" y="14173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" name="number-text"/>
          <p:cNvSpPr txBox="1"/>
          <p:nvPr/>
        </p:nvSpPr>
        <p:spPr>
          <a:xfrm>
            <a:off x="42062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28016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Pick the right program (blastn, blastp or blastx) and database</a:t>
            </a:r>
            <a:endParaRPr lang="en-US" sz="1500" dirty="0"/>
          </a:p>
        </p:txBody>
      </p:sp>
      <p:sp>
        <p:nvSpPr>
          <p:cNvPr id="10" name="step-row"/>
          <p:cNvSpPr/>
          <p:nvPr/>
        </p:nvSpPr>
        <p:spPr>
          <a:xfrm>
            <a:off x="4023360" y="2103120"/>
            <a:ext cx="46634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1" name="number-badge"/>
          <p:cNvSpPr/>
          <p:nvPr/>
        </p:nvSpPr>
        <p:spPr>
          <a:xfrm>
            <a:off x="4206240" y="22402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number-text"/>
          <p:cNvSpPr txBox="1"/>
          <p:nvPr/>
        </p:nvSpPr>
        <p:spPr>
          <a:xfrm>
            <a:off x="42062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10312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Run the search and save the results</a:t>
            </a:r>
            <a:endParaRPr lang="en-US" sz="1500" dirty="0"/>
          </a:p>
        </p:txBody>
      </p:sp>
      <p:sp>
        <p:nvSpPr>
          <p:cNvPr id="14" name="step-row"/>
          <p:cNvSpPr/>
          <p:nvPr/>
        </p:nvSpPr>
        <p:spPr>
          <a:xfrm>
            <a:off x="4023360" y="2926080"/>
            <a:ext cx="46634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5" name="number-badge"/>
          <p:cNvSpPr/>
          <p:nvPr/>
        </p:nvSpPr>
        <p:spPr>
          <a:xfrm>
            <a:off x="4206240" y="306324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number-text"/>
          <p:cNvSpPr txBox="1"/>
          <p:nvPr/>
        </p:nvSpPr>
        <p:spPr>
          <a:xfrm>
            <a:off x="42062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92608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Name the likely organism, gene or protein</a:t>
            </a:r>
            <a:endParaRPr lang="en-US" sz="1500" dirty="0"/>
          </a:p>
        </p:txBody>
      </p:sp>
      <p:sp>
        <p:nvSpPr>
          <p:cNvPr id="18" name="step-row"/>
          <p:cNvSpPr/>
          <p:nvPr/>
        </p:nvSpPr>
        <p:spPr>
          <a:xfrm>
            <a:off x="4023360" y="3749040"/>
            <a:ext cx="46634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9" name="number-badge"/>
          <p:cNvSpPr/>
          <p:nvPr/>
        </p:nvSpPr>
        <p:spPr>
          <a:xfrm>
            <a:off x="4206240" y="38862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0" name="number-text"/>
          <p:cNvSpPr txBox="1"/>
          <p:nvPr/>
        </p:nvSpPr>
        <p:spPr>
          <a:xfrm>
            <a:off x="42062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74904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Justify it: bit score, E-value, query cover, % identity, and the runner-up hits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Quick Check</a:t>
            </a:r>
            <a:endParaRPr lang="en-US" sz="3400" dirty="0"/>
          </a:p>
        </p:txBody>
      </p:sp>
      <p:sp>
        <p:nvSpPr>
          <p:cNvPr id="3" name="hit-card"/>
          <p:cNvSpPr/>
          <p:nvPr/>
        </p:nvSpPr>
        <p:spPr>
          <a:xfrm>
            <a:off x="457200" y="1234440"/>
            <a:ext cx="4023360" cy="1691640"/>
          </a:xfrm>
          <a:prstGeom prst="roundRect">
            <a:avLst>
              <a:gd name="adj" fmla="val 6486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Hit 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</a:rPr>
              <a:t>Bit score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245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</a:rPr>
              <a:t>E-value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057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3e-65</a:t>
            </a:r>
            <a:endParaRPr lang="en-US" sz="3600" dirty="0"/>
          </a:p>
        </p:txBody>
      </p:sp>
      <p:sp>
        <p:nvSpPr>
          <p:cNvPr id="9" name="hit-card"/>
          <p:cNvSpPr/>
          <p:nvPr/>
        </p:nvSpPr>
        <p:spPr>
          <a:xfrm>
            <a:off x="4663440" y="1234440"/>
            <a:ext cx="40233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3776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Hit B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Bit score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057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28.9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E-value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057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1.3</a:t>
            </a:r>
            <a:endParaRPr lang="en-US" sz="3600" dirty="0"/>
          </a:p>
        </p:txBody>
      </p:sp>
      <p:sp>
        <p:nvSpPr>
          <p:cNvPr id="15" name="questions"/>
          <p:cNvSpPr/>
          <p:nvPr/>
        </p:nvSpPr>
        <p:spPr>
          <a:xfrm>
            <a:off x="457200" y="3154680"/>
            <a:ext cx="822960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154680"/>
            <a:ext cx="7680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1.  Which hit is more significant, and how do you know?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2.  What does E = 1.3 mean in plain words?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3.  Would you trust Hit B on its own? What else would you check?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</a:rPr>
              <a:t>Key Takeaways</a:t>
            </a:r>
            <a:endParaRPr lang="en-US" sz="3400" dirty="0"/>
          </a:p>
        </p:txBody>
      </p:sp>
      <p:sp>
        <p:nvSpPr>
          <p:cNvPr id="3" name="number-badge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" name="number-text"/>
          <p:cNvSpPr txBox="1"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2801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chemeClr val="bg1"/>
                </a:solidFill>
              </a:rPr>
              <a:t>BLAST is a fast heuristic: seed, extend, score</a:t>
            </a:r>
            <a:endParaRPr lang="en-US" sz="2100" dirty="0"/>
          </a:p>
        </p:txBody>
      </p:sp>
      <p:sp>
        <p:nvSpPr>
          <p:cNvPr id="6" name="number-badge"/>
          <p:cNvSpPr/>
          <p:nvPr/>
        </p:nvSpPr>
        <p:spPr>
          <a:xfrm>
            <a:off x="548640" y="21945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number-text"/>
          <p:cNvSpPr txBox="1"/>
          <p:nvPr/>
        </p:nvSpPr>
        <p:spPr>
          <a:xfrm>
            <a:off x="5486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1031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chemeClr val="bg1"/>
                </a:solidFill>
              </a:rPr>
              <a:t>Match the program to your query and database</a:t>
            </a:r>
            <a:endParaRPr lang="en-US" sz="2100" dirty="0"/>
          </a:p>
        </p:txBody>
      </p:sp>
      <p:sp>
        <p:nvSpPr>
          <p:cNvPr id="9" name="number-badge"/>
          <p:cNvSpPr/>
          <p:nvPr/>
        </p:nvSpPr>
        <p:spPr>
          <a:xfrm>
            <a:off x="548640" y="301752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number-text"/>
          <p:cNvSpPr txBox="1"/>
          <p:nvPr/>
        </p:nvSpPr>
        <p:spPr>
          <a:xfrm>
            <a:off x="54864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9260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chemeClr val="bg1"/>
                </a:solidFill>
              </a:rPr>
              <a:t>Bit score = strength.  E-value = chance</a:t>
            </a:r>
            <a:endParaRPr lang="en-US" sz="2100" dirty="0"/>
          </a:p>
        </p:txBody>
      </p:sp>
      <p:sp>
        <p:nvSpPr>
          <p:cNvPr id="12" name="number-badge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number-text"/>
          <p:cNvSpPr txBox="1"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749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chemeClr val="bg1"/>
                </a:solidFill>
              </a:rPr>
              <a:t>Never trust one number: check coverage, identity and context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oinformatics Navy">
  <a:themeElements>
    <a:clrScheme name="Bioinformatics Navy">
      <a:dk1>
        <a:srgbClr val="1A2142"/>
      </a:dk1>
      <a:lt1>
        <a:srgbClr val="FFFFFF"/>
      </a:lt1>
      <a:dk2>
        <a:srgbClr val="1E2761"/>
      </a:dk2>
      <a:lt2>
        <a:srgbClr val="EAF1FD"/>
      </a:lt2>
      <a:accent1>
        <a:srgbClr val="1E2761"/>
      </a:accent1>
      <a:accent2>
        <a:srgbClr val="CADCFC"/>
      </a:accent2>
      <a:accent3>
        <a:srgbClr val="F28C28"/>
      </a:accent3>
      <a:accent4>
        <a:srgbClr val="4C6FBF"/>
      </a:accent4>
      <a:accent5>
        <a:srgbClr val="1F7A63"/>
      </a:accent5>
      <a:accent6>
        <a:srgbClr val="C0392B"/>
      </a:accent6>
      <a:hlink>
        <a:srgbClr val="4C6FBF"/>
      </a:hlink>
      <a:folHlink>
        <a:srgbClr val="7A5AA6"/>
      </a:folHlink>
    </a:clrScheme>
    <a:fontScheme name="Bioinformatics Nav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1218</Words>
  <Application>Microsoft Office PowerPoint</Application>
  <PresentationFormat>On-screen Show (16:9)</PresentationFormat>
  <Paragraphs>282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Bioinformatics Navy</vt:lpstr>
      <vt:lpstr>BLAST &amp; Sequence Similarity Search</vt:lpstr>
      <vt:lpstr>Learning Objectives</vt:lpstr>
      <vt:lpstr>Why Do We Need BLAST?</vt:lpstr>
      <vt:lpstr>BLAST Variants</vt:lpstr>
      <vt:lpstr>Seed-and-Extend: 3 Steps</vt:lpstr>
      <vt:lpstr>Seed-and-Extend Example</vt:lpstr>
      <vt:lpstr>Bit Score</vt:lpstr>
      <vt:lpstr>E-value: Chance Hits</vt:lpstr>
      <vt:lpstr>Reading a BLAST Report</vt:lpstr>
      <vt:lpstr>Class Activities</vt:lpstr>
      <vt:lpstr>Lab: Run BLAST</vt:lpstr>
      <vt:lpstr>Assignment</vt:lpstr>
      <vt:lpstr>Quick Check</vt:lpstr>
      <vt:lpstr>Key Takeaways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7: BLAST &amp; Sequence Similarity Search</dc:title>
  <dc:subject>PptxGenJS Presentation</dc:subject>
  <dc:creator>PptxGenJS</dc:creator>
  <cp:lastModifiedBy>Dr Shahid Manzoor</cp:lastModifiedBy>
  <cp:revision>1</cp:revision>
  <dcterms:created xsi:type="dcterms:W3CDTF">2026-10-12T06:56:12Z</dcterms:created>
  <dcterms:modified xsi:type="dcterms:W3CDTF">2026-10-12T07:17:06Z</dcterms:modified>
</cp:coreProperties>
</file>