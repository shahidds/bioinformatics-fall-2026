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0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7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" y="2469995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5029200" cy="50292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3931920"/>
            <a:ext cx="2926080" cy="2926080"/>
          </a:xfrm>
          <a:prstGeom prst="ellipse">
            <a:avLst/>
          </a:prstGeom>
          <a:solidFill>
            <a:srgbClr val="E8863A"/>
          </a:solidFill>
          <a:ln/>
        </p:spPr>
      </p:sp>
      <p:sp>
        <p:nvSpPr>
          <p:cNvPr id="5" name="Text 3"/>
          <p:cNvSpPr/>
          <p:nvPr/>
        </p:nvSpPr>
        <p:spPr>
          <a:xfrm>
            <a:off x="6562121" y="4777740"/>
            <a:ext cx="25818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E8863A"/>
                </a:solidFill>
                <a:latin typeface="Calibri" pitchFamily="34" charset="0"/>
                <a:cs typeface="Calibri" pitchFamily="34" charset="-120"/>
              </a:rPr>
              <a:t>SHAHID MANOOR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Biological Databases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NCBI, Ensembl, UniProt, and PDB, record structure, accession numbers, and retrieval workflows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1280160" cy="0"/>
          </a:xfrm>
          <a:prstGeom prst="line">
            <a:avLst/>
          </a:prstGeom>
          <a:noFill/>
          <a:ln w="38100">
            <a:solidFill>
              <a:srgbClr val="E886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Data Science  |  Bioinformatics Course</a:t>
            </a:r>
            <a:endParaRPr lang="en-US" sz="12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F1C0DB75-BE14-89B7-C421-F1BA01566EE7}"/>
              </a:ext>
            </a:extLst>
          </p:cNvPr>
          <p:cNvSpPr/>
          <p:nvPr/>
        </p:nvSpPr>
        <p:spPr>
          <a:xfrm>
            <a:off x="975360" y="2118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91640" y="14813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19202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Confidently move through NCBI, Ensembl, UniProt, and PDB to locate gene and protein records.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971800"/>
            <a:ext cx="685800" cy="685800"/>
          </a:xfrm>
          <a:prstGeom prst="ellipse">
            <a:avLst/>
          </a:prstGeom>
          <a:solidFill>
            <a:srgbClr val="E8863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71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91640" y="2898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33375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accession numbers and record metadata schemas to identify what a database entry actually tells you.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389120"/>
            <a:ext cx="685800" cy="685800"/>
          </a:xfrm>
          <a:prstGeom prst="ellipse">
            <a:avLst/>
          </a:prstGeom>
          <a:solidFill>
            <a:srgbClr val="5B647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91640" y="43159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47548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primary databases (raw submissions) apart from secondary/curated databases (annotated, cross-referenced).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— Lecture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21488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9718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Types &amp; Scope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7490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vs. secondary databases; sequence vs. structure vs. literature resources.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8288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21488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8863A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00600" y="29718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Retrieval Workflows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37490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Searching, filtering, and pulling records by ID, keyword, or organism.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41080" y="21488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5B6478"/>
          </a:solidFill>
          <a:ln/>
        </p:spPr>
      </p:sp>
      <p:sp>
        <p:nvSpPr>
          <p:cNvPr id="15" name="Text 13"/>
          <p:cNvSpPr/>
          <p:nvPr/>
        </p:nvSpPr>
        <p:spPr>
          <a:xfrm>
            <a:off x="86410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41080" y="29718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/ Metadata Schemas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41080" y="37490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fields make up a GenBank, UniProt, or PDB entry  and why they matter.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— Lecture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vs. Secondary Databases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4663440"/>
          </a:xfrm>
          <a:prstGeom prst="roundRect">
            <a:avLst>
              <a:gd name="adj" fmla="val 1961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737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194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data, submitted directly by researchers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2834640"/>
            <a:ext cx="128016" cy="128016"/>
          </a:xfrm>
          <a:prstGeom prst="ellipse">
            <a:avLst/>
          </a:prstGeom>
          <a:solidFill>
            <a:srgbClr val="E8863A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7157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curation or interpretation added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3547872"/>
            <a:ext cx="128016" cy="128016"/>
          </a:xfrm>
          <a:prstGeom prst="ellipse">
            <a:avLst/>
          </a:prstGeom>
          <a:solidFill>
            <a:srgbClr val="E8863A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34290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reflect exactly what was submitted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4261104"/>
            <a:ext cx="128016" cy="128016"/>
          </a:xfrm>
          <a:prstGeom prst="ellipse">
            <a:avLst/>
          </a:prstGeom>
          <a:solidFill>
            <a:srgbClr val="E8863A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41422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GenBank (NCBI), PDB (structures), SRA (raw reads)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4974336"/>
            <a:ext cx="128016" cy="128016"/>
          </a:xfrm>
          <a:prstGeom prst="ellipse">
            <a:avLst/>
          </a:prstGeom>
          <a:solidFill>
            <a:srgbClr val="E8863A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485546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contain redundancy, errors, or gaps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5212080" cy="4663440"/>
          </a:xfrm>
          <a:prstGeom prst="roundRect">
            <a:avLst>
              <a:gd name="adj" fmla="val 1961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737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75120" y="2194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Curated, annotated, and cross-referenced derivatives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75120" y="283464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27157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expert or computational annotation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75120" y="3547872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34290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Cross-links to related records across databases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75120" y="426110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41422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UniProt (from curated + TrEMBL), Ensembl (genome annotation)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75120" y="4974336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485546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confidence, but reflects a point-in-time interpretation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— Lecture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Databases, Four Jobs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EEF3FC"/>
          </a:solidFill>
          <a:ln/>
        </p:spPr>
      </p:sp>
      <p:sp>
        <p:nvSpPr>
          <p:cNvPr id="4" name="Shape 2"/>
          <p:cNvSpPr/>
          <p:nvPr/>
        </p:nvSpPr>
        <p:spPr>
          <a:xfrm>
            <a:off x="1485900" y="21945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485900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8862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Sequence, literature &amp; data hub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66160" y="182880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EEF3FC"/>
          </a:solidFill>
          <a:ln/>
        </p:spPr>
      </p:sp>
      <p:sp>
        <p:nvSpPr>
          <p:cNvPr id="9" name="Shape 7"/>
          <p:cNvSpPr/>
          <p:nvPr/>
        </p:nvSpPr>
        <p:spPr>
          <a:xfrm>
            <a:off x="4411980" y="2194560"/>
            <a:ext cx="1005840" cy="1005840"/>
          </a:xfrm>
          <a:prstGeom prst="ellipse">
            <a:avLst/>
          </a:prstGeom>
          <a:solidFill>
            <a:srgbClr val="E8863A"/>
          </a:solidFill>
          <a:ln/>
        </p:spPr>
      </p:sp>
      <p:sp>
        <p:nvSpPr>
          <p:cNvPr id="10" name="Text 8"/>
          <p:cNvSpPr/>
          <p:nvPr/>
        </p:nvSpPr>
        <p:spPr>
          <a:xfrm>
            <a:off x="4411980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94760" y="38862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 annotation &amp; comparative genomics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182880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EEF3FC"/>
          </a:solidFill>
          <a:ln/>
        </p:spPr>
      </p:sp>
      <p:sp>
        <p:nvSpPr>
          <p:cNvPr id="14" name="Shape 12"/>
          <p:cNvSpPr/>
          <p:nvPr/>
        </p:nvSpPr>
        <p:spPr>
          <a:xfrm>
            <a:off x="7338060" y="2194560"/>
            <a:ext cx="1005840" cy="1005840"/>
          </a:xfrm>
          <a:prstGeom prst="ellipse">
            <a:avLst/>
          </a:prstGeom>
          <a:solidFill>
            <a:srgbClr val="5B6478"/>
          </a:solidFill>
          <a:ln/>
        </p:spPr>
      </p:sp>
      <p:sp>
        <p:nvSpPr>
          <p:cNvPr id="15" name="Text 13"/>
          <p:cNvSpPr/>
          <p:nvPr/>
        </p:nvSpPr>
        <p:spPr>
          <a:xfrm>
            <a:off x="7338060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720840" y="38862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protein sequence &amp; function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418320" y="182880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EEF3F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64140" y="2194560"/>
            <a:ext cx="1005840" cy="100584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20" name="Text 18"/>
          <p:cNvSpPr/>
          <p:nvPr/>
        </p:nvSpPr>
        <p:spPr>
          <a:xfrm>
            <a:off x="10264140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0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646920" y="38862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macromolecular structures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— Lecture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E886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737360" y="457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NCBI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3736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Center for Biotechnology Information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8470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Umbrella hub: GenBank (sequences), PubMed (literature), Gene, Protein, SRA, dbSNP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8986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Entrez : a unified cross-database search &amp; retrieval system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TYPE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9502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(GenBank) : direct researcher submissions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029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50017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gene's sequence, pull linked publications, cross-reference to Protein/Gene records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— Lecture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37360" y="457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3736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 browser &amp; annotation resource (EMBL-EBI / Sanger)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8470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Whole-genome assemblies with gene models, transcripts, regulatory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8986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 browser, BioMart (bulk queries), REST API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TYPE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9502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: computationally + manually annotated on top of raw assemblies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029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50017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 gene's exon structure, compare orthologs across species, export coordinates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— Lecture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E886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37360" y="457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UniProt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3736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Protein Resource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8470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sequence, function, domains, post-translational modification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TIERS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8986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UniProtKB/Swiss-Prot (manually reviewed) vs. TrEMBL (automatic, unreviewed)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TYPE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9502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curated annotation layered on translated sequences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029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50017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a protein's function, active sites, and links to structure (PDB) and gene (Ensembl)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— Lecture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3736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Protein Data Bank (PDB)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73736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of experimentally determined 3D structures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8470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coordinates from X-ray crystallography, NMR, and cryo-EM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8986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RCSB PDB website, PDBe (Europe), PDBj (Japan) — one shared archive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TYPE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9502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direct structural determination submissions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029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50017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atomic coordinates, view a protein's fold, check resolution &amp; method quality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— Lecture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Accession Numbers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database has its own accession format — recognizing the pattern tells you the source and record type at a glance.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0896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12064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108813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GenBank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08960" y="192024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1920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NM_001301717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1920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letters + underscore + 6-9 digits; prefix (NM_, NP_, NC_) marks record type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108813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80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08960" y="288036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3108960" y="2880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ENSG00000141510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8803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 + species code (blank = human) + feature type (G/T/P) + 11 digits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730752"/>
            <a:ext cx="108813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108960" y="384048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3108960" y="3840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P04637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3840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6-character alphanumeric ID (or 10-char since 2020); links directly to one protein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690872"/>
            <a:ext cx="108813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800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108960" y="480060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3108960" y="4800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4HHB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4800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4-character code: 1 digit + 3 alphanumeric, one per deposited structure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— Lecture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Retrieval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377440"/>
            <a:ext cx="192572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82903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282903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65140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520086" y="29260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85846" y="2377440"/>
            <a:ext cx="192572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8670" y="1920240"/>
            <a:ext cx="640080" cy="640080"/>
          </a:xfrm>
          <a:prstGeom prst="ellipse">
            <a:avLst/>
          </a:prstGeom>
          <a:solidFill>
            <a:srgbClr val="E8863A"/>
          </a:solidFill>
          <a:ln/>
        </p:spPr>
      </p:sp>
      <p:sp>
        <p:nvSpPr>
          <p:cNvPr id="10" name="Text 8"/>
          <p:cNvSpPr/>
          <p:nvPr/>
        </p:nvSpPr>
        <p:spPr>
          <a:xfrm>
            <a:off x="352867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23006" y="2606040"/>
            <a:ext cx="165140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gene/ID/keyword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65853" y="29260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131613" y="2377440"/>
            <a:ext cx="192572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74436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774436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68773" y="2606040"/>
            <a:ext cx="165140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record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fields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011619" y="29260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77379" y="2377440"/>
            <a:ext cx="192572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20202" y="1920240"/>
            <a:ext cx="640080" cy="640080"/>
          </a:xfrm>
          <a:prstGeom prst="ellipse">
            <a:avLst/>
          </a:prstGeom>
          <a:solidFill>
            <a:srgbClr val="E8863A"/>
          </a:solidFill>
          <a:ln/>
        </p:spPr>
      </p:sp>
      <p:sp>
        <p:nvSpPr>
          <p:cNvPr id="20" name="Text 18"/>
          <p:cNvSpPr/>
          <p:nvPr/>
        </p:nvSpPr>
        <p:spPr>
          <a:xfrm>
            <a:off x="8020202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14539" y="2606040"/>
            <a:ext cx="165140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(FASTA/GB/PDB)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257386" y="29260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623146" y="2377440"/>
            <a:ext cx="192572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265969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10265969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60306" y="2606040"/>
            <a:ext cx="165140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databases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4663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always confirm the organism and assembly/version before trusting coordinates or sequence identity across databases.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— Lecture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Activities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965960"/>
          </a:xfrm>
          <a:prstGeom prst="roundRect">
            <a:avLst>
              <a:gd name="adj" fmla="val 5581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783080"/>
            <a:ext cx="640080" cy="640080"/>
          </a:xfrm>
          <a:prstGeom prst="ellipse">
            <a:avLst/>
          </a:prstGeom>
          <a:solidFill>
            <a:srgbClr val="E8863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83080" y="16916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Scavenger Hunt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214884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pairs, retrieve records for the same gene/protein across all four databases (NCBI, Ensembl, UniProt, PDB) and log the accession number found in each.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10881360" cy="1965960"/>
          </a:xfrm>
          <a:prstGeom prst="roundRect">
            <a:avLst>
              <a:gd name="adj" fmla="val 5581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3977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83080" y="38862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Cross-Database Comparison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434340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entries for one gene across databases  sequence length, annotation, last-updated date and discuss why discrepancies exist (curation lag, assembly version, isoforms).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— Lecture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/ Lab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or </a:t>
            </a:r>
            <a:r>
              <a:rPr lang="en-US" sz="15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Biopython's</a:t>
            </a: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Entrez module : programmatic access to NCBI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943600" cy="3931920"/>
          </a:xfrm>
          <a:prstGeom prst="roundRect">
            <a:avLst>
              <a:gd name="adj" fmla="val 2326"/>
            </a:avLst>
          </a:prstGeom>
          <a:solidFill>
            <a:srgbClr val="0F153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Bio import Entrez, SeqIO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Entrez.email = "you@university.edu"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 = Entrez.efetch(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db="nucleotide",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id="NM_001301717",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rettype="gb",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retmode="text"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= SeqIO.read(handle, "genbank")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print(record.id, len(record.seq))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949440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Entrez.email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49440" y="23317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NCBI to identify API users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49440" y="29443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efetch()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49440" y="326440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 full record by accession + database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949440" y="38770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rettype="gb"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49440" y="419709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GenBank flat-file format (vs. "fasta")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49440" y="48097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SeqIO.read()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49440" y="51297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the handle into a queryable record object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— Lecture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&amp; Quick Check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2103120"/>
          </a:xfrm>
          <a:prstGeom prst="roundRect">
            <a:avLst>
              <a:gd name="adj" fmla="val 5217"/>
            </a:avLst>
          </a:prstGeom>
          <a:solidFill>
            <a:srgbClr val="EEF3FC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737360"/>
            <a:ext cx="640080" cy="640080"/>
          </a:xfrm>
          <a:prstGeom prst="ellipse">
            <a:avLst/>
          </a:prstGeom>
          <a:solidFill>
            <a:srgbClr val="E8863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83080" y="1645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210312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Python script using Python or </a:t>
            </a:r>
            <a:r>
              <a:rPr lang="en-US" sz="1400" dirty="0" err="1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Biopython's</a:t>
            </a: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Entrez module that batch-downloads 10 sequences given a list of accession numbers, saving each as a separate FASTA file.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881360" cy="233172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4069080"/>
            <a:ext cx="640080" cy="64008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8308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for Understanding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4434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database to the data type it specializes in: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4846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83080" y="5193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+ literature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4846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5193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 annotation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4846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5193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function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78240" y="4846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78240" y="5193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structure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— Lecture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1145</TotalTime>
  <Words>1041</Words>
  <Application>Microsoft Office PowerPoint</Application>
  <PresentationFormat>Widescreen</PresentationFormat>
  <Paragraphs>218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Dr Shahid Manzoor</cp:lastModifiedBy>
  <cp:revision>5</cp:revision>
  <dcterms:created xsi:type="dcterms:W3CDTF">2026-09-23T11:06:55Z</dcterms:created>
  <dcterms:modified xsi:type="dcterms:W3CDTF">2026-09-24T06:28:02Z</dcterms:modified>
</cp:coreProperties>
</file>