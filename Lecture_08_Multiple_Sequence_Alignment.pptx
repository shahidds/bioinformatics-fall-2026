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EA63945-2473-A2AB-F326-D36A2BF81AF8}">
          <p14:sldIdLst>
            <p14:sldId id="256"/>
            <p14:sldId id="257"/>
          </p14:sldIdLst>
        </p14:section>
        <p14:section name="Core concepts" id="{AD052D76-8558-85A4-0A6C-C55FD222F66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ractice" id="{9B481E0B-A02C-184A-714C-70EA96449C69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2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column 4 (W in all five sequences). Columns 2, 5, 8 and 10 are 4/5 identical, so they are near misses.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240280"/>
            <a:ext cx="5943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411480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Bioinformatics  |  Lecture 8: Multiple Sequence Alignment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Bioinformatics  |  Lecture 8: Multiple Sequence Alignment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1"/>
                </a:solidFill>
              </a:rPr>
              <a:t>LECTURE 8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24028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Multiple Sequence Alignment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4114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Bioinformatics  ·  MS Data Science</a:t>
            </a:r>
            <a:endParaRPr lang="en-US" sz="2000" dirty="0"/>
          </a:p>
        </p:txBody>
      </p:sp>
      <p:sp>
        <p:nvSpPr>
          <p:cNvPr id="5" name="msa-r0c0"/>
          <p:cNvSpPr txBox="1"/>
          <p:nvPr/>
        </p:nvSpPr>
        <p:spPr>
          <a:xfrm>
            <a:off x="70866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6" name="msa-r0c1"/>
          <p:cNvSpPr txBox="1"/>
          <p:nvPr/>
        </p:nvSpPr>
        <p:spPr>
          <a:xfrm>
            <a:off x="75438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7" name="msa-r0c2"/>
          <p:cNvSpPr txBox="1"/>
          <p:nvPr/>
        </p:nvSpPr>
        <p:spPr>
          <a:xfrm>
            <a:off x="80010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8" name="msa-r0c3"/>
          <p:cNvSpPr txBox="1"/>
          <p:nvPr/>
        </p:nvSpPr>
        <p:spPr>
          <a:xfrm>
            <a:off x="84582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800" dirty="0"/>
          </a:p>
        </p:txBody>
      </p:sp>
      <p:sp>
        <p:nvSpPr>
          <p:cNvPr id="9" name="msa-r0c4"/>
          <p:cNvSpPr txBox="1"/>
          <p:nvPr/>
        </p:nvSpPr>
        <p:spPr>
          <a:xfrm>
            <a:off x="89154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msa-r0c5"/>
          <p:cNvSpPr txBox="1"/>
          <p:nvPr/>
        </p:nvSpPr>
        <p:spPr>
          <a:xfrm>
            <a:off x="9372600" y="20116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11" name="msa-r0c6"/>
          <p:cNvSpPr txBox="1"/>
          <p:nvPr/>
        </p:nvSpPr>
        <p:spPr>
          <a:xfrm>
            <a:off x="98298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msa-r0c7"/>
          <p:cNvSpPr txBox="1"/>
          <p:nvPr/>
        </p:nvSpPr>
        <p:spPr>
          <a:xfrm>
            <a:off x="10287000" y="20116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3" name="msa-r0c8"/>
          <p:cNvSpPr txBox="1"/>
          <p:nvPr/>
        </p:nvSpPr>
        <p:spPr>
          <a:xfrm>
            <a:off x="107442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msa-r0c9"/>
          <p:cNvSpPr txBox="1"/>
          <p:nvPr/>
        </p:nvSpPr>
        <p:spPr>
          <a:xfrm>
            <a:off x="11201400" y="2011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msa-r1c0"/>
          <p:cNvSpPr txBox="1"/>
          <p:nvPr/>
        </p:nvSpPr>
        <p:spPr>
          <a:xfrm>
            <a:off x="70866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16" name="msa-r1c1"/>
          <p:cNvSpPr txBox="1"/>
          <p:nvPr/>
        </p:nvSpPr>
        <p:spPr>
          <a:xfrm>
            <a:off x="75438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17" name="msa-r1c2"/>
          <p:cNvSpPr txBox="1"/>
          <p:nvPr/>
        </p:nvSpPr>
        <p:spPr>
          <a:xfrm>
            <a:off x="80010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18" name="msa-r1c3"/>
          <p:cNvSpPr txBox="1"/>
          <p:nvPr/>
        </p:nvSpPr>
        <p:spPr>
          <a:xfrm>
            <a:off x="84582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800" dirty="0"/>
          </a:p>
        </p:txBody>
      </p:sp>
      <p:sp>
        <p:nvSpPr>
          <p:cNvPr id="19" name="msa-r1c4"/>
          <p:cNvSpPr txBox="1"/>
          <p:nvPr/>
        </p:nvSpPr>
        <p:spPr>
          <a:xfrm>
            <a:off x="89154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msa-r1c5"/>
          <p:cNvSpPr txBox="1"/>
          <p:nvPr/>
        </p:nvSpPr>
        <p:spPr>
          <a:xfrm>
            <a:off x="9372600" y="24688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21" name="msa-r1c6"/>
          <p:cNvSpPr txBox="1"/>
          <p:nvPr/>
        </p:nvSpPr>
        <p:spPr>
          <a:xfrm>
            <a:off x="98298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msa-r1c7"/>
          <p:cNvSpPr txBox="1"/>
          <p:nvPr/>
        </p:nvSpPr>
        <p:spPr>
          <a:xfrm>
            <a:off x="10287000" y="24688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23" name="msa-r1c8"/>
          <p:cNvSpPr txBox="1"/>
          <p:nvPr/>
        </p:nvSpPr>
        <p:spPr>
          <a:xfrm>
            <a:off x="107442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msa-r1c9"/>
          <p:cNvSpPr txBox="1"/>
          <p:nvPr/>
        </p:nvSpPr>
        <p:spPr>
          <a:xfrm>
            <a:off x="11201400" y="24688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25" name="msa-r2c0"/>
          <p:cNvSpPr txBox="1"/>
          <p:nvPr/>
        </p:nvSpPr>
        <p:spPr>
          <a:xfrm>
            <a:off x="70866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26" name="msa-r2c1"/>
          <p:cNvSpPr txBox="1"/>
          <p:nvPr/>
        </p:nvSpPr>
        <p:spPr>
          <a:xfrm>
            <a:off x="75438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800" dirty="0"/>
          </a:p>
        </p:txBody>
      </p:sp>
      <p:sp>
        <p:nvSpPr>
          <p:cNvPr id="27" name="msa-r2c2"/>
          <p:cNvSpPr txBox="1"/>
          <p:nvPr/>
        </p:nvSpPr>
        <p:spPr>
          <a:xfrm>
            <a:off x="80010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28" name="msa-r2c3"/>
          <p:cNvSpPr txBox="1"/>
          <p:nvPr/>
        </p:nvSpPr>
        <p:spPr>
          <a:xfrm>
            <a:off x="84582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9" name="msa-r2c4"/>
          <p:cNvSpPr txBox="1"/>
          <p:nvPr/>
        </p:nvSpPr>
        <p:spPr>
          <a:xfrm>
            <a:off x="89154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30" name="msa-r2c5"/>
          <p:cNvSpPr txBox="1"/>
          <p:nvPr/>
        </p:nvSpPr>
        <p:spPr>
          <a:xfrm>
            <a:off x="9372600" y="29260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31" name="msa-r2c6"/>
          <p:cNvSpPr txBox="1"/>
          <p:nvPr/>
        </p:nvSpPr>
        <p:spPr>
          <a:xfrm>
            <a:off x="98298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32" name="msa-r2c7"/>
          <p:cNvSpPr txBox="1"/>
          <p:nvPr/>
        </p:nvSpPr>
        <p:spPr>
          <a:xfrm>
            <a:off x="10287000" y="29260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33" name="msa-r2c8"/>
          <p:cNvSpPr txBox="1"/>
          <p:nvPr/>
        </p:nvSpPr>
        <p:spPr>
          <a:xfrm>
            <a:off x="107442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800" dirty="0"/>
          </a:p>
        </p:txBody>
      </p:sp>
      <p:sp>
        <p:nvSpPr>
          <p:cNvPr id="34" name="msa-r2c9"/>
          <p:cNvSpPr txBox="1"/>
          <p:nvPr/>
        </p:nvSpPr>
        <p:spPr>
          <a:xfrm>
            <a:off x="11201400" y="29260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35" name="msa-r3c0"/>
          <p:cNvSpPr txBox="1"/>
          <p:nvPr/>
        </p:nvSpPr>
        <p:spPr>
          <a:xfrm>
            <a:off x="70866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36" name="msa-r3c1"/>
          <p:cNvSpPr txBox="1"/>
          <p:nvPr/>
        </p:nvSpPr>
        <p:spPr>
          <a:xfrm>
            <a:off x="75438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37" name="msa-r3c2"/>
          <p:cNvSpPr txBox="1"/>
          <p:nvPr/>
        </p:nvSpPr>
        <p:spPr>
          <a:xfrm>
            <a:off x="80010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38" name="msa-r3c3"/>
          <p:cNvSpPr txBox="1"/>
          <p:nvPr/>
        </p:nvSpPr>
        <p:spPr>
          <a:xfrm>
            <a:off x="84582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800" dirty="0"/>
          </a:p>
        </p:txBody>
      </p:sp>
      <p:sp>
        <p:nvSpPr>
          <p:cNvPr id="39" name="msa-r3c4"/>
          <p:cNvSpPr txBox="1"/>
          <p:nvPr/>
        </p:nvSpPr>
        <p:spPr>
          <a:xfrm>
            <a:off x="89154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40" name="msa-r3c5"/>
          <p:cNvSpPr txBox="1"/>
          <p:nvPr/>
        </p:nvSpPr>
        <p:spPr>
          <a:xfrm>
            <a:off x="9372600" y="33832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41" name="msa-r3c6"/>
          <p:cNvSpPr txBox="1"/>
          <p:nvPr/>
        </p:nvSpPr>
        <p:spPr>
          <a:xfrm>
            <a:off x="98298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42" name="msa-r3c7"/>
          <p:cNvSpPr txBox="1"/>
          <p:nvPr/>
        </p:nvSpPr>
        <p:spPr>
          <a:xfrm>
            <a:off x="10287000" y="33832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43" name="msa-r3c8"/>
          <p:cNvSpPr txBox="1"/>
          <p:nvPr/>
        </p:nvSpPr>
        <p:spPr>
          <a:xfrm>
            <a:off x="107442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44" name="msa-r3c9"/>
          <p:cNvSpPr txBox="1"/>
          <p:nvPr/>
        </p:nvSpPr>
        <p:spPr>
          <a:xfrm>
            <a:off x="11201400" y="33832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45" name="msa-r4c0"/>
          <p:cNvSpPr txBox="1"/>
          <p:nvPr/>
        </p:nvSpPr>
        <p:spPr>
          <a:xfrm>
            <a:off x="70866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46" name="msa-r4c1"/>
          <p:cNvSpPr txBox="1"/>
          <p:nvPr/>
        </p:nvSpPr>
        <p:spPr>
          <a:xfrm>
            <a:off x="75438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47" name="msa-r4c2"/>
          <p:cNvSpPr txBox="1"/>
          <p:nvPr/>
        </p:nvSpPr>
        <p:spPr>
          <a:xfrm>
            <a:off x="80010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48" name="msa-r4c3"/>
          <p:cNvSpPr txBox="1"/>
          <p:nvPr/>
        </p:nvSpPr>
        <p:spPr>
          <a:xfrm>
            <a:off x="84582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800" dirty="0"/>
          </a:p>
        </p:txBody>
      </p:sp>
      <p:sp>
        <p:nvSpPr>
          <p:cNvPr id="49" name="msa-r4c4"/>
          <p:cNvSpPr txBox="1"/>
          <p:nvPr/>
        </p:nvSpPr>
        <p:spPr>
          <a:xfrm>
            <a:off x="89154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50" name="msa-r4c5"/>
          <p:cNvSpPr txBox="1"/>
          <p:nvPr/>
        </p:nvSpPr>
        <p:spPr>
          <a:xfrm>
            <a:off x="9372600" y="38404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51" name="msa-r4c6"/>
          <p:cNvSpPr txBox="1"/>
          <p:nvPr/>
        </p:nvSpPr>
        <p:spPr>
          <a:xfrm>
            <a:off x="98298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52" name="msa-r4c7"/>
          <p:cNvSpPr txBox="1"/>
          <p:nvPr/>
        </p:nvSpPr>
        <p:spPr>
          <a:xfrm>
            <a:off x="10287000" y="38404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53" name="msa-r4c8"/>
          <p:cNvSpPr txBox="1"/>
          <p:nvPr/>
        </p:nvSpPr>
        <p:spPr>
          <a:xfrm>
            <a:off x="107442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800" dirty="0"/>
          </a:p>
        </p:txBody>
      </p:sp>
      <p:sp>
        <p:nvSpPr>
          <p:cNvPr id="54" name="msa-r4c9"/>
          <p:cNvSpPr txBox="1"/>
          <p:nvPr/>
        </p:nvSpPr>
        <p:spPr>
          <a:xfrm>
            <a:off x="11201400" y="38404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55" name="msa-r5c0"/>
          <p:cNvSpPr txBox="1"/>
          <p:nvPr/>
        </p:nvSpPr>
        <p:spPr>
          <a:xfrm>
            <a:off x="7086600" y="4297680"/>
            <a:ext cx="457200" cy="457200"/>
          </a:xfrm>
          <a:prstGeom prst="rect">
            <a:avLst/>
          </a:prstGeom>
          <a:solidFill>
            <a:schemeClr val="tx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800" dirty="0"/>
          </a:p>
        </p:txBody>
      </p:sp>
      <p:sp>
        <p:nvSpPr>
          <p:cNvPr id="56" name="msa-r5c1"/>
          <p:cNvSpPr txBox="1"/>
          <p:nvPr/>
        </p:nvSpPr>
        <p:spPr>
          <a:xfrm>
            <a:off x="75438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57" name="msa-r5c2"/>
          <p:cNvSpPr txBox="1"/>
          <p:nvPr/>
        </p:nvSpPr>
        <p:spPr>
          <a:xfrm>
            <a:off x="80010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58" name="msa-r5c3"/>
          <p:cNvSpPr txBox="1"/>
          <p:nvPr/>
        </p:nvSpPr>
        <p:spPr>
          <a:xfrm>
            <a:off x="84582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59" name="msa-r5c4"/>
          <p:cNvSpPr txBox="1"/>
          <p:nvPr/>
        </p:nvSpPr>
        <p:spPr>
          <a:xfrm>
            <a:off x="89154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60" name="msa-r5c5"/>
          <p:cNvSpPr txBox="1"/>
          <p:nvPr/>
        </p:nvSpPr>
        <p:spPr>
          <a:xfrm>
            <a:off x="9372600" y="42976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61" name="msa-r5c6"/>
          <p:cNvSpPr txBox="1"/>
          <p:nvPr/>
        </p:nvSpPr>
        <p:spPr>
          <a:xfrm>
            <a:off x="98298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62" name="msa-r5c7"/>
          <p:cNvSpPr txBox="1"/>
          <p:nvPr/>
        </p:nvSpPr>
        <p:spPr>
          <a:xfrm>
            <a:off x="10287000" y="4297680"/>
            <a:ext cx="4572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63" name="msa-r5c8"/>
          <p:cNvSpPr txBox="1"/>
          <p:nvPr/>
        </p:nvSpPr>
        <p:spPr>
          <a:xfrm>
            <a:off x="107442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64" name="msa-r5c9"/>
          <p:cNvSpPr txBox="1"/>
          <p:nvPr/>
        </p:nvSpPr>
        <p:spPr>
          <a:xfrm>
            <a:off x="11201400" y="4297680"/>
            <a:ext cx="457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1E276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708660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Orange columns = identical in every sequence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Learning objectives</a:t>
            </a:r>
            <a:endParaRPr lang="en-US" sz="3400" dirty="0"/>
          </a:p>
        </p:txBody>
      </p:sp>
      <p:sp>
        <p:nvSpPr>
          <p:cNvPr id="3" name="card-obj0"/>
          <p:cNvSpPr/>
          <p:nvPr/>
        </p:nvSpPr>
        <p:spPr>
          <a:xfrm>
            <a:off x="548640" y="146304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hip-FaSitemap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Sitemap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" y="199156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OBJECTIVE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progressive alignment and guide trees</a:t>
            </a:r>
            <a:endParaRPr lang="en-US" sz="1800" dirty="0"/>
          </a:p>
        </p:txBody>
      </p:sp>
      <p:sp>
        <p:nvSpPr>
          <p:cNvPr id="9" name="card-obj1"/>
          <p:cNvSpPr/>
          <p:nvPr/>
        </p:nvSpPr>
        <p:spPr>
          <a:xfrm>
            <a:off x="4357116" y="146304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chip-FaLaptopCode"/>
          <p:cNvSpPr/>
          <p:nvPr/>
        </p:nvSpPr>
        <p:spPr>
          <a:xfrm>
            <a:off x="4677156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LaptopCod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639" y="19915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7156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OBJECTIVE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677156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4677156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MSA tools: ClustalW and MUSCLE</a:t>
            </a:r>
            <a:endParaRPr lang="en-US" sz="1800" dirty="0"/>
          </a:p>
        </p:txBody>
      </p:sp>
      <p:sp>
        <p:nvSpPr>
          <p:cNvPr id="15" name="card-obj2"/>
          <p:cNvSpPr/>
          <p:nvPr/>
        </p:nvSpPr>
        <p:spPr>
          <a:xfrm>
            <a:off x="8165592" y="1463040"/>
            <a:ext cx="34747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hip-FaBullseye"/>
          <p:cNvSpPr/>
          <p:nvPr/>
        </p:nvSpPr>
        <p:spPr>
          <a:xfrm>
            <a:off x="8485632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FaBullsey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15" y="199156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85632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OBJECTIVE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485632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3749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conserved regions in an alignment</a:t>
            </a:r>
            <a:endParaRPr lang="en-US" sz="1800" dirty="0"/>
          </a:p>
        </p:txBody>
      </p:sp>
      <p:sp>
        <p:nvSpPr>
          <p:cNvPr id="21" name="band-topics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68680" y="4983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Topics today</a:t>
            </a:r>
            <a:endParaRPr lang="en-US" sz="1800" dirty="0"/>
          </a:p>
        </p:txBody>
      </p:sp>
      <p:sp>
        <p:nvSpPr>
          <p:cNvPr id="23" name="topic-0"/>
          <p:cNvSpPr txBox="1"/>
          <p:nvPr/>
        </p:nvSpPr>
        <p:spPr>
          <a:xfrm>
            <a:off x="2743200" y="5257800"/>
            <a:ext cx="2743200" cy="5486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Progressive alignment</a:t>
            </a:r>
            <a:endParaRPr lang="en-US" sz="1600" dirty="0"/>
          </a:p>
        </p:txBody>
      </p:sp>
      <p:sp>
        <p:nvSpPr>
          <p:cNvPr id="24" name="topic-1"/>
          <p:cNvSpPr txBox="1"/>
          <p:nvPr/>
        </p:nvSpPr>
        <p:spPr>
          <a:xfrm>
            <a:off x="5715000" y="5257800"/>
            <a:ext cx="1828800" cy="5486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Guide trees</a:t>
            </a:r>
            <a:endParaRPr lang="en-US" sz="1600" dirty="0"/>
          </a:p>
        </p:txBody>
      </p:sp>
      <p:sp>
        <p:nvSpPr>
          <p:cNvPr id="25" name="topic-2"/>
          <p:cNvSpPr txBox="1"/>
          <p:nvPr/>
        </p:nvSpPr>
        <p:spPr>
          <a:xfrm>
            <a:off x="7772400" y="5257800"/>
            <a:ext cx="3566160" cy="548640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Conserved domains &amp; motifs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pairs to families</a:t>
            </a:r>
            <a:endParaRPr lang="en-US" sz="3400" dirty="0"/>
          </a:p>
        </p:txBody>
      </p:sp>
      <p:sp>
        <p:nvSpPr>
          <p:cNvPr id="3" name="card-pairs"/>
          <p:cNvSpPr/>
          <p:nvPr/>
        </p:nvSpPr>
        <p:spPr>
          <a:xfrm>
            <a:off x="548640" y="1463040"/>
            <a:ext cx="52120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Pairwise alignment compares 2 sequences. How many pairs do N sequences make?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× (N − 1) ÷ 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06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pairs for 6 sequences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2918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4,950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4206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pairs for 100 sequences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029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 MSA aligns the whole family together, so patterns shared by every sequence stand out.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MSA reveals</a:t>
            </a:r>
            <a:endParaRPr lang="en-US" sz="2400" dirty="0"/>
          </a:p>
        </p:txBody>
      </p:sp>
      <p:sp>
        <p:nvSpPr>
          <p:cNvPr id="12" name="chip-FaBullseye"/>
          <p:cNvSpPr/>
          <p:nvPr/>
        </p:nvSpPr>
        <p:spPr>
          <a:xfrm>
            <a:off x="6309360" y="2194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FaBullsey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239207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6092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Conserved regions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2578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Residues that stay the same across the family</a:t>
            </a:r>
            <a:endParaRPr lang="en-US" sz="1600" dirty="0"/>
          </a:p>
        </p:txBody>
      </p:sp>
      <p:sp>
        <p:nvSpPr>
          <p:cNvPr id="16" name="chip-FaSitemap"/>
          <p:cNvSpPr/>
          <p:nvPr/>
        </p:nvSpPr>
        <p:spPr>
          <a:xfrm>
            <a:off x="6309360" y="3520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FaSitemap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3717950"/>
            <a:ext cx="427939" cy="42793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6092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Evolutionary relationships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360920" y="39044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starting point for building phylogenetic trees</a:t>
            </a:r>
            <a:endParaRPr lang="en-US" sz="1600" dirty="0"/>
          </a:p>
        </p:txBody>
      </p:sp>
      <p:sp>
        <p:nvSpPr>
          <p:cNvPr id="20" name="chip-FaPuzzlePiece"/>
          <p:cNvSpPr/>
          <p:nvPr/>
        </p:nvSpPr>
        <p:spPr>
          <a:xfrm>
            <a:off x="6309360" y="48463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FaPuzzlePiec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70" y="5043830"/>
            <a:ext cx="427939" cy="42793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6092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Functional domains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7360920" y="52303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Clues about structure and biological function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Anatomy of an MSA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97864" y="1371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Human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97864" y="17922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97864" y="22128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Chicken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97864" y="2633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Zebrafish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30540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97864" y="34747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Yeast</a:t>
            </a:r>
            <a:endParaRPr lang="en-US" sz="1400" dirty="0"/>
          </a:p>
        </p:txBody>
      </p:sp>
      <p:sp>
        <p:nvSpPr>
          <p:cNvPr id="9" name="msa-r0c0"/>
          <p:cNvSpPr txBox="1"/>
          <p:nvPr/>
        </p:nvSpPr>
        <p:spPr>
          <a:xfrm>
            <a:off x="2569464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10" name="msa-r0c1"/>
          <p:cNvSpPr txBox="1"/>
          <p:nvPr/>
        </p:nvSpPr>
        <p:spPr>
          <a:xfrm>
            <a:off x="2990088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11" name="msa-r0c2"/>
          <p:cNvSpPr txBox="1"/>
          <p:nvPr/>
        </p:nvSpPr>
        <p:spPr>
          <a:xfrm>
            <a:off x="3410712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msa-r0c3"/>
          <p:cNvSpPr txBox="1"/>
          <p:nvPr/>
        </p:nvSpPr>
        <p:spPr>
          <a:xfrm>
            <a:off x="3831336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600" dirty="0"/>
          </a:p>
        </p:txBody>
      </p:sp>
      <p:sp>
        <p:nvSpPr>
          <p:cNvPr id="13" name="msa-r0c4"/>
          <p:cNvSpPr txBox="1"/>
          <p:nvPr/>
        </p:nvSpPr>
        <p:spPr>
          <a:xfrm>
            <a:off x="4251960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msa-r0c5"/>
          <p:cNvSpPr txBox="1"/>
          <p:nvPr/>
        </p:nvSpPr>
        <p:spPr>
          <a:xfrm>
            <a:off x="4672584" y="137160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15" name="msa-r0c6"/>
          <p:cNvSpPr txBox="1"/>
          <p:nvPr/>
        </p:nvSpPr>
        <p:spPr>
          <a:xfrm>
            <a:off x="5093208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msa-r0c7"/>
          <p:cNvSpPr txBox="1"/>
          <p:nvPr/>
        </p:nvSpPr>
        <p:spPr>
          <a:xfrm>
            <a:off x="5513832" y="137160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msa-r0c8"/>
          <p:cNvSpPr txBox="1"/>
          <p:nvPr/>
        </p:nvSpPr>
        <p:spPr>
          <a:xfrm>
            <a:off x="5934456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18" name="msa-r0c9"/>
          <p:cNvSpPr txBox="1"/>
          <p:nvPr/>
        </p:nvSpPr>
        <p:spPr>
          <a:xfrm>
            <a:off x="6355080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19" name="msa-r0c10"/>
          <p:cNvSpPr txBox="1"/>
          <p:nvPr/>
        </p:nvSpPr>
        <p:spPr>
          <a:xfrm>
            <a:off x="6775704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20" name="msa-r0c11"/>
          <p:cNvSpPr txBox="1"/>
          <p:nvPr/>
        </p:nvSpPr>
        <p:spPr>
          <a:xfrm>
            <a:off x="7196328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msa-r0c12"/>
          <p:cNvSpPr txBox="1"/>
          <p:nvPr/>
        </p:nvSpPr>
        <p:spPr>
          <a:xfrm>
            <a:off x="7616952" y="137160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msa-r0c13"/>
          <p:cNvSpPr txBox="1"/>
          <p:nvPr/>
        </p:nvSpPr>
        <p:spPr>
          <a:xfrm>
            <a:off x="8037576" y="137160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23" name="msa-r0c14"/>
          <p:cNvSpPr txBox="1"/>
          <p:nvPr/>
        </p:nvSpPr>
        <p:spPr>
          <a:xfrm>
            <a:off x="8458200" y="1371600"/>
            <a:ext cx="420624" cy="420624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msa-r0c15"/>
          <p:cNvSpPr txBox="1"/>
          <p:nvPr/>
        </p:nvSpPr>
        <p:spPr>
          <a:xfrm>
            <a:off x="8878824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25" name="msa-r0c16"/>
          <p:cNvSpPr txBox="1"/>
          <p:nvPr/>
        </p:nvSpPr>
        <p:spPr>
          <a:xfrm>
            <a:off x="9299448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26" name="msa-r0c17"/>
          <p:cNvSpPr txBox="1"/>
          <p:nvPr/>
        </p:nvSpPr>
        <p:spPr>
          <a:xfrm>
            <a:off x="9720072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msa-r0c18"/>
          <p:cNvSpPr txBox="1"/>
          <p:nvPr/>
        </p:nvSpPr>
        <p:spPr>
          <a:xfrm>
            <a:off x="10140696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28" name="msa-r0c19"/>
          <p:cNvSpPr txBox="1"/>
          <p:nvPr/>
        </p:nvSpPr>
        <p:spPr>
          <a:xfrm>
            <a:off x="10561320" y="137160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29" name="msa-r1c0"/>
          <p:cNvSpPr txBox="1"/>
          <p:nvPr/>
        </p:nvSpPr>
        <p:spPr>
          <a:xfrm>
            <a:off x="2569464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30" name="msa-r1c1"/>
          <p:cNvSpPr txBox="1"/>
          <p:nvPr/>
        </p:nvSpPr>
        <p:spPr>
          <a:xfrm>
            <a:off x="2990088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31" name="msa-r1c2"/>
          <p:cNvSpPr txBox="1"/>
          <p:nvPr/>
        </p:nvSpPr>
        <p:spPr>
          <a:xfrm>
            <a:off x="3410712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32" name="msa-r1c3"/>
          <p:cNvSpPr txBox="1"/>
          <p:nvPr/>
        </p:nvSpPr>
        <p:spPr>
          <a:xfrm>
            <a:off x="3831336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600" dirty="0"/>
          </a:p>
        </p:txBody>
      </p:sp>
      <p:sp>
        <p:nvSpPr>
          <p:cNvPr id="33" name="msa-r1c4"/>
          <p:cNvSpPr txBox="1"/>
          <p:nvPr/>
        </p:nvSpPr>
        <p:spPr>
          <a:xfrm>
            <a:off x="4251960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34" name="msa-r1c5"/>
          <p:cNvSpPr txBox="1"/>
          <p:nvPr/>
        </p:nvSpPr>
        <p:spPr>
          <a:xfrm>
            <a:off x="4672584" y="1792224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35" name="msa-r1c6"/>
          <p:cNvSpPr txBox="1"/>
          <p:nvPr/>
        </p:nvSpPr>
        <p:spPr>
          <a:xfrm>
            <a:off x="5093208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msa-r1c7"/>
          <p:cNvSpPr txBox="1"/>
          <p:nvPr/>
        </p:nvSpPr>
        <p:spPr>
          <a:xfrm>
            <a:off x="5513832" y="1792224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37" name="msa-r1c8"/>
          <p:cNvSpPr txBox="1"/>
          <p:nvPr/>
        </p:nvSpPr>
        <p:spPr>
          <a:xfrm>
            <a:off x="5934456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38" name="msa-r1c9"/>
          <p:cNvSpPr txBox="1"/>
          <p:nvPr/>
        </p:nvSpPr>
        <p:spPr>
          <a:xfrm>
            <a:off x="6355080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39" name="msa-r1c10"/>
          <p:cNvSpPr txBox="1"/>
          <p:nvPr/>
        </p:nvSpPr>
        <p:spPr>
          <a:xfrm>
            <a:off x="6775704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40" name="msa-r1c11"/>
          <p:cNvSpPr txBox="1"/>
          <p:nvPr/>
        </p:nvSpPr>
        <p:spPr>
          <a:xfrm>
            <a:off x="7196328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41" name="msa-r1c12"/>
          <p:cNvSpPr txBox="1"/>
          <p:nvPr/>
        </p:nvSpPr>
        <p:spPr>
          <a:xfrm>
            <a:off x="7616952" y="1792224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42" name="msa-r1c13"/>
          <p:cNvSpPr txBox="1"/>
          <p:nvPr/>
        </p:nvSpPr>
        <p:spPr>
          <a:xfrm>
            <a:off x="8037576" y="1792224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43" name="msa-r1c14"/>
          <p:cNvSpPr txBox="1"/>
          <p:nvPr/>
        </p:nvSpPr>
        <p:spPr>
          <a:xfrm>
            <a:off x="8458200" y="1792224"/>
            <a:ext cx="420624" cy="420624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44" name="msa-r1c15"/>
          <p:cNvSpPr txBox="1"/>
          <p:nvPr/>
        </p:nvSpPr>
        <p:spPr>
          <a:xfrm>
            <a:off x="8878824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45" name="msa-r1c16"/>
          <p:cNvSpPr txBox="1"/>
          <p:nvPr/>
        </p:nvSpPr>
        <p:spPr>
          <a:xfrm>
            <a:off x="9299448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00" dirty="0"/>
          </a:p>
        </p:txBody>
      </p:sp>
      <p:sp>
        <p:nvSpPr>
          <p:cNvPr id="46" name="msa-r1c17"/>
          <p:cNvSpPr txBox="1"/>
          <p:nvPr/>
        </p:nvSpPr>
        <p:spPr>
          <a:xfrm>
            <a:off x="9720072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47" name="msa-r1c18"/>
          <p:cNvSpPr txBox="1"/>
          <p:nvPr/>
        </p:nvSpPr>
        <p:spPr>
          <a:xfrm>
            <a:off x="10140696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48" name="msa-r1c19"/>
          <p:cNvSpPr txBox="1"/>
          <p:nvPr/>
        </p:nvSpPr>
        <p:spPr>
          <a:xfrm>
            <a:off x="10561320" y="1792224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49" name="msa-r2c0"/>
          <p:cNvSpPr txBox="1"/>
          <p:nvPr/>
        </p:nvSpPr>
        <p:spPr>
          <a:xfrm>
            <a:off x="2569464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50" name="msa-r2c1"/>
          <p:cNvSpPr txBox="1"/>
          <p:nvPr/>
        </p:nvSpPr>
        <p:spPr>
          <a:xfrm>
            <a:off x="2990088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00" dirty="0"/>
          </a:p>
        </p:txBody>
      </p:sp>
      <p:sp>
        <p:nvSpPr>
          <p:cNvPr id="51" name="msa-r2c2"/>
          <p:cNvSpPr txBox="1"/>
          <p:nvPr/>
        </p:nvSpPr>
        <p:spPr>
          <a:xfrm>
            <a:off x="3410712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52" name="msa-r2c3"/>
          <p:cNvSpPr txBox="1"/>
          <p:nvPr/>
        </p:nvSpPr>
        <p:spPr>
          <a:xfrm>
            <a:off x="3831336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600" dirty="0"/>
          </a:p>
        </p:txBody>
      </p:sp>
      <p:sp>
        <p:nvSpPr>
          <p:cNvPr id="53" name="msa-r2c4"/>
          <p:cNvSpPr txBox="1"/>
          <p:nvPr/>
        </p:nvSpPr>
        <p:spPr>
          <a:xfrm>
            <a:off x="4251960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54" name="msa-r2c5"/>
          <p:cNvSpPr txBox="1"/>
          <p:nvPr/>
        </p:nvSpPr>
        <p:spPr>
          <a:xfrm>
            <a:off x="4672584" y="2212848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55" name="msa-r2c6"/>
          <p:cNvSpPr txBox="1"/>
          <p:nvPr/>
        </p:nvSpPr>
        <p:spPr>
          <a:xfrm>
            <a:off x="5093208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56" name="msa-r2c7"/>
          <p:cNvSpPr txBox="1"/>
          <p:nvPr/>
        </p:nvSpPr>
        <p:spPr>
          <a:xfrm>
            <a:off x="5513832" y="2212848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57" name="msa-r2c8"/>
          <p:cNvSpPr txBox="1"/>
          <p:nvPr/>
        </p:nvSpPr>
        <p:spPr>
          <a:xfrm>
            <a:off x="5934456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58" name="msa-r2c9"/>
          <p:cNvSpPr txBox="1"/>
          <p:nvPr/>
        </p:nvSpPr>
        <p:spPr>
          <a:xfrm>
            <a:off x="6355080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59" name="msa-r2c10"/>
          <p:cNvSpPr txBox="1"/>
          <p:nvPr/>
        </p:nvSpPr>
        <p:spPr>
          <a:xfrm>
            <a:off x="6775704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60" name="msa-r2c11"/>
          <p:cNvSpPr txBox="1"/>
          <p:nvPr/>
        </p:nvSpPr>
        <p:spPr>
          <a:xfrm>
            <a:off x="7196328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61" name="msa-r2c12"/>
          <p:cNvSpPr txBox="1"/>
          <p:nvPr/>
        </p:nvSpPr>
        <p:spPr>
          <a:xfrm>
            <a:off x="7616952" y="2212848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62" name="msa-r2c13"/>
          <p:cNvSpPr txBox="1"/>
          <p:nvPr/>
        </p:nvSpPr>
        <p:spPr>
          <a:xfrm>
            <a:off x="8037576" y="2212848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3" name="msa-r2c14"/>
          <p:cNvSpPr txBox="1"/>
          <p:nvPr/>
        </p:nvSpPr>
        <p:spPr>
          <a:xfrm>
            <a:off x="8458200" y="2212848"/>
            <a:ext cx="420624" cy="420624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64" name="msa-r2c15"/>
          <p:cNvSpPr txBox="1"/>
          <p:nvPr/>
        </p:nvSpPr>
        <p:spPr>
          <a:xfrm>
            <a:off x="8878824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65" name="msa-r2c16"/>
          <p:cNvSpPr txBox="1"/>
          <p:nvPr/>
        </p:nvSpPr>
        <p:spPr>
          <a:xfrm>
            <a:off x="9299448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66" name="msa-r2c17"/>
          <p:cNvSpPr txBox="1"/>
          <p:nvPr/>
        </p:nvSpPr>
        <p:spPr>
          <a:xfrm>
            <a:off x="9720072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67" name="msa-r2c18"/>
          <p:cNvSpPr txBox="1"/>
          <p:nvPr/>
        </p:nvSpPr>
        <p:spPr>
          <a:xfrm>
            <a:off x="10140696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68" name="msa-r2c19"/>
          <p:cNvSpPr txBox="1"/>
          <p:nvPr/>
        </p:nvSpPr>
        <p:spPr>
          <a:xfrm>
            <a:off x="10561320" y="2212848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69" name="msa-r3c0"/>
          <p:cNvSpPr txBox="1"/>
          <p:nvPr/>
        </p:nvSpPr>
        <p:spPr>
          <a:xfrm>
            <a:off x="2569464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70" name="msa-r3c1"/>
          <p:cNvSpPr txBox="1"/>
          <p:nvPr/>
        </p:nvSpPr>
        <p:spPr>
          <a:xfrm>
            <a:off x="2990088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71" name="msa-r3c2"/>
          <p:cNvSpPr txBox="1"/>
          <p:nvPr/>
        </p:nvSpPr>
        <p:spPr>
          <a:xfrm>
            <a:off x="3410712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72" name="msa-r3c3"/>
          <p:cNvSpPr txBox="1"/>
          <p:nvPr/>
        </p:nvSpPr>
        <p:spPr>
          <a:xfrm>
            <a:off x="3831336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600" dirty="0"/>
          </a:p>
        </p:txBody>
      </p:sp>
      <p:sp>
        <p:nvSpPr>
          <p:cNvPr id="73" name="msa-r3c4"/>
          <p:cNvSpPr txBox="1"/>
          <p:nvPr/>
        </p:nvSpPr>
        <p:spPr>
          <a:xfrm>
            <a:off x="4251960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74" name="msa-r3c5"/>
          <p:cNvSpPr txBox="1"/>
          <p:nvPr/>
        </p:nvSpPr>
        <p:spPr>
          <a:xfrm>
            <a:off x="4672584" y="2633472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75" name="msa-r3c6"/>
          <p:cNvSpPr txBox="1"/>
          <p:nvPr/>
        </p:nvSpPr>
        <p:spPr>
          <a:xfrm>
            <a:off x="5093208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76" name="msa-r3c7"/>
          <p:cNvSpPr txBox="1"/>
          <p:nvPr/>
        </p:nvSpPr>
        <p:spPr>
          <a:xfrm>
            <a:off x="5513832" y="2633472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77" name="msa-r3c8"/>
          <p:cNvSpPr txBox="1"/>
          <p:nvPr/>
        </p:nvSpPr>
        <p:spPr>
          <a:xfrm>
            <a:off x="5934456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78" name="msa-r3c9"/>
          <p:cNvSpPr txBox="1"/>
          <p:nvPr/>
        </p:nvSpPr>
        <p:spPr>
          <a:xfrm>
            <a:off x="6355080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79" name="msa-r3c10"/>
          <p:cNvSpPr txBox="1"/>
          <p:nvPr/>
        </p:nvSpPr>
        <p:spPr>
          <a:xfrm>
            <a:off x="6775704" y="2633472"/>
            <a:ext cx="420624" cy="420624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600" dirty="0"/>
          </a:p>
        </p:txBody>
      </p:sp>
      <p:sp>
        <p:nvSpPr>
          <p:cNvPr id="80" name="msa-r3c11"/>
          <p:cNvSpPr txBox="1"/>
          <p:nvPr/>
        </p:nvSpPr>
        <p:spPr>
          <a:xfrm>
            <a:off x="7196328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81" name="msa-r3c12"/>
          <p:cNvSpPr txBox="1"/>
          <p:nvPr/>
        </p:nvSpPr>
        <p:spPr>
          <a:xfrm>
            <a:off x="7616952" y="2633472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82" name="msa-r3c13"/>
          <p:cNvSpPr txBox="1"/>
          <p:nvPr/>
        </p:nvSpPr>
        <p:spPr>
          <a:xfrm>
            <a:off x="8037576" y="2633472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83" name="msa-r3c14"/>
          <p:cNvSpPr txBox="1"/>
          <p:nvPr/>
        </p:nvSpPr>
        <p:spPr>
          <a:xfrm>
            <a:off x="8458200" y="2633472"/>
            <a:ext cx="420624" cy="420624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84" name="msa-r3c15"/>
          <p:cNvSpPr txBox="1"/>
          <p:nvPr/>
        </p:nvSpPr>
        <p:spPr>
          <a:xfrm>
            <a:off x="8878824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85" name="msa-r3c16"/>
          <p:cNvSpPr txBox="1"/>
          <p:nvPr/>
        </p:nvSpPr>
        <p:spPr>
          <a:xfrm>
            <a:off x="9299448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86" name="msa-r3c17"/>
          <p:cNvSpPr txBox="1"/>
          <p:nvPr/>
        </p:nvSpPr>
        <p:spPr>
          <a:xfrm>
            <a:off x="9720072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87" name="msa-r3c18"/>
          <p:cNvSpPr txBox="1"/>
          <p:nvPr/>
        </p:nvSpPr>
        <p:spPr>
          <a:xfrm>
            <a:off x="10140696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88" name="msa-r3c19"/>
          <p:cNvSpPr txBox="1"/>
          <p:nvPr/>
        </p:nvSpPr>
        <p:spPr>
          <a:xfrm>
            <a:off x="10561320" y="2633472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89" name="msa-r4c0"/>
          <p:cNvSpPr txBox="1"/>
          <p:nvPr/>
        </p:nvSpPr>
        <p:spPr>
          <a:xfrm>
            <a:off x="2569464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90" name="msa-r4c1"/>
          <p:cNvSpPr txBox="1"/>
          <p:nvPr/>
        </p:nvSpPr>
        <p:spPr>
          <a:xfrm>
            <a:off x="2990088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91" name="msa-r4c2"/>
          <p:cNvSpPr txBox="1"/>
          <p:nvPr/>
        </p:nvSpPr>
        <p:spPr>
          <a:xfrm>
            <a:off x="3410712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92" name="msa-r4c3"/>
          <p:cNvSpPr txBox="1"/>
          <p:nvPr/>
        </p:nvSpPr>
        <p:spPr>
          <a:xfrm>
            <a:off x="3831336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600" dirty="0"/>
          </a:p>
        </p:txBody>
      </p:sp>
      <p:sp>
        <p:nvSpPr>
          <p:cNvPr id="93" name="msa-r4c4"/>
          <p:cNvSpPr txBox="1"/>
          <p:nvPr/>
        </p:nvSpPr>
        <p:spPr>
          <a:xfrm>
            <a:off x="4251960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94" name="msa-r4c5"/>
          <p:cNvSpPr txBox="1"/>
          <p:nvPr/>
        </p:nvSpPr>
        <p:spPr>
          <a:xfrm>
            <a:off x="4672584" y="3054096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95" name="msa-r4c6"/>
          <p:cNvSpPr txBox="1"/>
          <p:nvPr/>
        </p:nvSpPr>
        <p:spPr>
          <a:xfrm>
            <a:off x="5093208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96" name="msa-r4c7"/>
          <p:cNvSpPr txBox="1"/>
          <p:nvPr/>
        </p:nvSpPr>
        <p:spPr>
          <a:xfrm>
            <a:off x="5513832" y="3054096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97" name="msa-r4c8"/>
          <p:cNvSpPr txBox="1"/>
          <p:nvPr/>
        </p:nvSpPr>
        <p:spPr>
          <a:xfrm>
            <a:off x="5934456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98" name="msa-r4c9"/>
          <p:cNvSpPr txBox="1"/>
          <p:nvPr/>
        </p:nvSpPr>
        <p:spPr>
          <a:xfrm>
            <a:off x="6355080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99" name="msa-r4c10"/>
          <p:cNvSpPr txBox="1"/>
          <p:nvPr/>
        </p:nvSpPr>
        <p:spPr>
          <a:xfrm>
            <a:off x="6775704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100" name="msa-r4c11"/>
          <p:cNvSpPr txBox="1"/>
          <p:nvPr/>
        </p:nvSpPr>
        <p:spPr>
          <a:xfrm>
            <a:off x="7196328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101" name="msa-r4c12"/>
          <p:cNvSpPr txBox="1"/>
          <p:nvPr/>
        </p:nvSpPr>
        <p:spPr>
          <a:xfrm>
            <a:off x="7616952" y="3054096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102" name="msa-r4c13"/>
          <p:cNvSpPr txBox="1"/>
          <p:nvPr/>
        </p:nvSpPr>
        <p:spPr>
          <a:xfrm>
            <a:off x="8037576" y="3054096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103" name="msa-r4c14"/>
          <p:cNvSpPr txBox="1"/>
          <p:nvPr/>
        </p:nvSpPr>
        <p:spPr>
          <a:xfrm>
            <a:off x="8458200" y="3054096"/>
            <a:ext cx="420624" cy="420624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104" name="msa-r4c15"/>
          <p:cNvSpPr txBox="1"/>
          <p:nvPr/>
        </p:nvSpPr>
        <p:spPr>
          <a:xfrm>
            <a:off x="8878824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600" dirty="0"/>
          </a:p>
        </p:txBody>
      </p:sp>
      <p:sp>
        <p:nvSpPr>
          <p:cNvPr id="105" name="msa-r4c16"/>
          <p:cNvSpPr txBox="1"/>
          <p:nvPr/>
        </p:nvSpPr>
        <p:spPr>
          <a:xfrm>
            <a:off x="9299448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00" dirty="0"/>
          </a:p>
        </p:txBody>
      </p:sp>
      <p:sp>
        <p:nvSpPr>
          <p:cNvPr id="106" name="msa-r4c17"/>
          <p:cNvSpPr txBox="1"/>
          <p:nvPr/>
        </p:nvSpPr>
        <p:spPr>
          <a:xfrm>
            <a:off x="9720072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107" name="msa-r4c18"/>
          <p:cNvSpPr txBox="1"/>
          <p:nvPr/>
        </p:nvSpPr>
        <p:spPr>
          <a:xfrm>
            <a:off x="10140696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08" name="msa-r4c19"/>
          <p:cNvSpPr txBox="1"/>
          <p:nvPr/>
        </p:nvSpPr>
        <p:spPr>
          <a:xfrm>
            <a:off x="10561320" y="3054096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600" dirty="0"/>
          </a:p>
        </p:txBody>
      </p:sp>
      <p:sp>
        <p:nvSpPr>
          <p:cNvPr id="109" name="msa-r5c0"/>
          <p:cNvSpPr txBox="1"/>
          <p:nvPr/>
        </p:nvSpPr>
        <p:spPr>
          <a:xfrm>
            <a:off x="2569464" y="3474720"/>
            <a:ext cx="420624" cy="420624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600" dirty="0"/>
          </a:p>
        </p:txBody>
      </p:sp>
      <p:sp>
        <p:nvSpPr>
          <p:cNvPr id="110" name="msa-r5c1"/>
          <p:cNvSpPr txBox="1"/>
          <p:nvPr/>
        </p:nvSpPr>
        <p:spPr>
          <a:xfrm>
            <a:off x="2990088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111" name="msa-r5c2"/>
          <p:cNvSpPr txBox="1"/>
          <p:nvPr/>
        </p:nvSpPr>
        <p:spPr>
          <a:xfrm>
            <a:off x="3410712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112" name="msa-r5c3"/>
          <p:cNvSpPr txBox="1"/>
          <p:nvPr/>
        </p:nvSpPr>
        <p:spPr>
          <a:xfrm>
            <a:off x="3831336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600" dirty="0"/>
          </a:p>
        </p:txBody>
      </p:sp>
      <p:sp>
        <p:nvSpPr>
          <p:cNvPr id="113" name="msa-r5c4"/>
          <p:cNvSpPr txBox="1"/>
          <p:nvPr/>
        </p:nvSpPr>
        <p:spPr>
          <a:xfrm>
            <a:off x="4251960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14" name="msa-r5c5"/>
          <p:cNvSpPr txBox="1"/>
          <p:nvPr/>
        </p:nvSpPr>
        <p:spPr>
          <a:xfrm>
            <a:off x="4672584" y="347472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600" dirty="0"/>
          </a:p>
        </p:txBody>
      </p:sp>
      <p:sp>
        <p:nvSpPr>
          <p:cNvPr id="115" name="msa-r5c6"/>
          <p:cNvSpPr txBox="1"/>
          <p:nvPr/>
        </p:nvSpPr>
        <p:spPr>
          <a:xfrm>
            <a:off x="5093208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16" name="msa-r5c7"/>
          <p:cNvSpPr txBox="1"/>
          <p:nvPr/>
        </p:nvSpPr>
        <p:spPr>
          <a:xfrm>
            <a:off x="5513832" y="347472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117" name="msa-r5c8"/>
          <p:cNvSpPr txBox="1"/>
          <p:nvPr/>
        </p:nvSpPr>
        <p:spPr>
          <a:xfrm>
            <a:off x="5934456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118" name="msa-r5c9"/>
          <p:cNvSpPr txBox="1"/>
          <p:nvPr/>
        </p:nvSpPr>
        <p:spPr>
          <a:xfrm>
            <a:off x="6355080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19" name="msa-r5c10"/>
          <p:cNvSpPr txBox="1"/>
          <p:nvPr/>
        </p:nvSpPr>
        <p:spPr>
          <a:xfrm>
            <a:off x="6775704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600" dirty="0"/>
          </a:p>
        </p:txBody>
      </p:sp>
      <p:sp>
        <p:nvSpPr>
          <p:cNvPr id="120" name="msa-r5c11"/>
          <p:cNvSpPr txBox="1"/>
          <p:nvPr/>
        </p:nvSpPr>
        <p:spPr>
          <a:xfrm>
            <a:off x="7196328" y="3474720"/>
            <a:ext cx="420624" cy="420624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600" dirty="0"/>
          </a:p>
        </p:txBody>
      </p:sp>
      <p:sp>
        <p:nvSpPr>
          <p:cNvPr id="121" name="msa-r5c12"/>
          <p:cNvSpPr txBox="1"/>
          <p:nvPr/>
        </p:nvSpPr>
        <p:spPr>
          <a:xfrm>
            <a:off x="7616952" y="347472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122" name="msa-r5c13"/>
          <p:cNvSpPr txBox="1"/>
          <p:nvPr/>
        </p:nvSpPr>
        <p:spPr>
          <a:xfrm>
            <a:off x="8037576" y="3474720"/>
            <a:ext cx="420624" cy="42062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123" name="msa-r5c14"/>
          <p:cNvSpPr txBox="1"/>
          <p:nvPr/>
        </p:nvSpPr>
        <p:spPr>
          <a:xfrm>
            <a:off x="8458200" y="3474720"/>
            <a:ext cx="420624" cy="420624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600" dirty="0"/>
          </a:p>
        </p:txBody>
      </p:sp>
      <p:sp>
        <p:nvSpPr>
          <p:cNvPr id="124" name="msa-r5c15"/>
          <p:cNvSpPr txBox="1"/>
          <p:nvPr/>
        </p:nvSpPr>
        <p:spPr>
          <a:xfrm>
            <a:off x="8878824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25" name="msa-r5c16"/>
          <p:cNvSpPr txBox="1"/>
          <p:nvPr/>
        </p:nvSpPr>
        <p:spPr>
          <a:xfrm>
            <a:off x="9299448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600" dirty="0"/>
          </a:p>
        </p:txBody>
      </p:sp>
      <p:sp>
        <p:nvSpPr>
          <p:cNvPr id="126" name="msa-r5c17"/>
          <p:cNvSpPr txBox="1"/>
          <p:nvPr/>
        </p:nvSpPr>
        <p:spPr>
          <a:xfrm>
            <a:off x="9720072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127" name="msa-r5c18"/>
          <p:cNvSpPr txBox="1"/>
          <p:nvPr/>
        </p:nvSpPr>
        <p:spPr>
          <a:xfrm>
            <a:off x="10140696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128" name="msa-r5c19"/>
          <p:cNvSpPr txBox="1"/>
          <p:nvPr/>
        </p:nvSpPr>
        <p:spPr>
          <a:xfrm>
            <a:off x="10561320" y="3474720"/>
            <a:ext cx="420624" cy="420624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129" name="Text 127"/>
          <p:cNvSpPr txBox="1"/>
          <p:nvPr/>
        </p:nvSpPr>
        <p:spPr>
          <a:xfrm>
            <a:off x="1197864" y="3922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Consensus</a:t>
            </a:r>
            <a:endParaRPr lang="en-US" sz="1400" dirty="0"/>
          </a:p>
        </p:txBody>
      </p:sp>
      <p:sp>
        <p:nvSpPr>
          <p:cNvPr id="130" name="Text 128"/>
          <p:cNvSpPr txBox="1"/>
          <p:nvPr/>
        </p:nvSpPr>
        <p:spPr>
          <a:xfrm>
            <a:off x="4672584" y="392277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131" name="Text 129"/>
          <p:cNvSpPr txBox="1"/>
          <p:nvPr/>
        </p:nvSpPr>
        <p:spPr>
          <a:xfrm>
            <a:off x="5513832" y="392277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132" name="Text 130"/>
          <p:cNvSpPr txBox="1"/>
          <p:nvPr/>
        </p:nvSpPr>
        <p:spPr>
          <a:xfrm>
            <a:off x="7616952" y="392277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133" name="Text 131"/>
          <p:cNvSpPr txBox="1"/>
          <p:nvPr/>
        </p:nvSpPr>
        <p:spPr>
          <a:xfrm>
            <a:off x="8037576" y="392277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134" name="card-leg0"/>
          <p:cNvSpPr/>
          <p:nvPr/>
        </p:nvSpPr>
        <p:spPr>
          <a:xfrm>
            <a:off x="548640" y="46634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5" name="swatch0"/>
          <p:cNvSpPr txBox="1"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800" dirty="0"/>
          </a:p>
        </p:txBody>
      </p:sp>
      <p:sp>
        <p:nvSpPr>
          <p:cNvPr id="136" name="Text 134"/>
          <p:cNvSpPr txBox="1"/>
          <p:nvPr/>
        </p:nvSpPr>
        <p:spPr>
          <a:xfrm>
            <a:off x="150876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Conserved column</a:t>
            </a:r>
            <a:endParaRPr lang="en-US" sz="1800" dirty="0"/>
          </a:p>
        </p:txBody>
      </p:sp>
      <p:sp>
        <p:nvSpPr>
          <p:cNvPr id="137" name="Text 135"/>
          <p:cNvSpPr txBox="1"/>
          <p:nvPr/>
        </p:nvSpPr>
        <p:spPr>
          <a:xfrm>
            <a:off x="82296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Same residue in every sequence (marked *)</a:t>
            </a:r>
            <a:endParaRPr lang="en-US" sz="1500" dirty="0"/>
          </a:p>
        </p:txBody>
      </p:sp>
      <p:sp>
        <p:nvSpPr>
          <p:cNvPr id="138" name="card-leg1"/>
          <p:cNvSpPr/>
          <p:nvPr/>
        </p:nvSpPr>
        <p:spPr>
          <a:xfrm>
            <a:off x="4311396" y="46634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9" name="swatch1"/>
          <p:cNvSpPr txBox="1"/>
          <p:nvPr/>
        </p:nvSpPr>
        <p:spPr>
          <a:xfrm>
            <a:off x="4585716" y="4937760"/>
            <a:ext cx="50292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140" name="Text 138"/>
          <p:cNvSpPr txBox="1"/>
          <p:nvPr/>
        </p:nvSpPr>
        <p:spPr>
          <a:xfrm>
            <a:off x="5271516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Mostly conserved</a:t>
            </a:r>
            <a:endParaRPr lang="en-US" sz="1800" dirty="0"/>
          </a:p>
        </p:txBody>
      </p:sp>
      <p:sp>
        <p:nvSpPr>
          <p:cNvPr id="141" name="Text 139"/>
          <p:cNvSpPr txBox="1"/>
          <p:nvPr/>
        </p:nvSpPr>
        <p:spPr>
          <a:xfrm>
            <a:off x="4585716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Same residue in most sequences</a:t>
            </a:r>
            <a:endParaRPr lang="en-US" sz="1500" dirty="0"/>
          </a:p>
        </p:txBody>
      </p:sp>
      <p:sp>
        <p:nvSpPr>
          <p:cNvPr id="142" name="card-leg2"/>
          <p:cNvSpPr/>
          <p:nvPr/>
        </p:nvSpPr>
        <p:spPr>
          <a:xfrm>
            <a:off x="8074152" y="46634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3" name="swatch2"/>
          <p:cNvSpPr txBox="1"/>
          <p:nvPr/>
        </p:nvSpPr>
        <p:spPr>
          <a:xfrm>
            <a:off x="8348472" y="4937760"/>
            <a:ext cx="502920" cy="502920"/>
          </a:xfrm>
          <a:prstGeom prst="rect">
            <a:avLst/>
          </a:prstGeom>
          <a:solidFill>
            <a:schemeClr val="bg1"/>
          </a:solidFill>
          <a:ln w="12700">
            <a:solidFill>
              <a:srgbClr val="7C86A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800" dirty="0"/>
          </a:p>
        </p:txBody>
      </p:sp>
      <p:sp>
        <p:nvSpPr>
          <p:cNvPr id="144" name="Text 142"/>
          <p:cNvSpPr txBox="1"/>
          <p:nvPr/>
        </p:nvSpPr>
        <p:spPr>
          <a:xfrm>
            <a:off x="9034272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Gap ( – )</a:t>
            </a:r>
            <a:endParaRPr lang="en-US" sz="1800" dirty="0"/>
          </a:p>
        </p:txBody>
      </p:sp>
      <p:sp>
        <p:nvSpPr>
          <p:cNvPr id="145" name="Text 143"/>
          <p:cNvSpPr txBox="1"/>
          <p:nvPr/>
        </p:nvSpPr>
        <p:spPr>
          <a:xfrm>
            <a:off x="8348472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Added by the aligner to line up related positions</a:t>
            </a:r>
            <a:endParaRPr lang="en-US" sz="1500" dirty="0"/>
          </a:p>
        </p:txBody>
      </p:sp>
      <p:sp>
        <p:nvSpPr>
          <p:cNvPr id="1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Progressive alignment in 3 steps</a:t>
            </a:r>
            <a:endParaRPr lang="en-US" sz="3400" dirty="0"/>
          </a:p>
        </p:txBody>
      </p:sp>
      <p:sp>
        <p:nvSpPr>
          <p:cNvPr id="3" name="card-step0"/>
          <p:cNvSpPr/>
          <p:nvPr/>
        </p:nvSpPr>
        <p:spPr>
          <a:xfrm>
            <a:off x="54864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-1"/>
          <p:cNvSpPr txBox="1"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Compare all pairs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Score every pair of sequences to get a distance matrix.</a:t>
            </a:r>
            <a:endParaRPr lang="en-US" sz="1700" dirty="0"/>
          </a:p>
        </p:txBody>
      </p:sp>
      <p:sp>
        <p:nvSpPr>
          <p:cNvPr id="7" name="arrow0"/>
          <p:cNvSpPr/>
          <p:nvPr/>
        </p:nvSpPr>
        <p:spPr>
          <a:xfrm>
            <a:off x="4059936" y="2743200"/>
            <a:ext cx="27432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card-step1"/>
          <p:cNvSpPr/>
          <p:nvPr/>
        </p:nvSpPr>
        <p:spPr>
          <a:xfrm>
            <a:off x="4357116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badge-2"/>
          <p:cNvSpPr txBox="1"/>
          <p:nvPr/>
        </p:nvSpPr>
        <p:spPr>
          <a:xfrm>
            <a:off x="4677156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677156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Build a guide tree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77156" y="3291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Cluster by similarity: the closest relatives join first.</a:t>
            </a:r>
            <a:endParaRPr lang="en-US" sz="1700" dirty="0"/>
          </a:p>
        </p:txBody>
      </p:sp>
      <p:sp>
        <p:nvSpPr>
          <p:cNvPr id="12" name="arrow1"/>
          <p:cNvSpPr/>
          <p:nvPr/>
        </p:nvSpPr>
        <p:spPr>
          <a:xfrm>
            <a:off x="7868412" y="2743200"/>
            <a:ext cx="27432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ard-step2"/>
          <p:cNvSpPr/>
          <p:nvPr/>
        </p:nvSpPr>
        <p:spPr>
          <a:xfrm>
            <a:off x="8165592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badge-3"/>
          <p:cNvSpPr txBox="1"/>
          <p:nvPr/>
        </p:nvSpPr>
        <p:spPr>
          <a:xfrm>
            <a:off x="8485632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Align along the tree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291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Align the closest pair, then add sequences and groups in tree order.</a:t>
            </a:r>
            <a:endParaRPr lang="en-US" sz="1700" dirty="0"/>
          </a:p>
        </p:txBody>
      </p:sp>
      <p:sp>
        <p:nvSpPr>
          <p:cNvPr id="17" name="band-gap-rule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8" name="chip-FaLightbulb"/>
          <p:cNvSpPr/>
          <p:nvPr/>
        </p:nvSpPr>
        <p:spPr>
          <a:xfrm>
            <a:off x="868680" y="4983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FaLightbulb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5180990"/>
            <a:ext cx="427939" cy="427939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2011680" y="4937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“Once a gap, always a gap”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54406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Early alignment choices are never revisited, so the order of joining matters. This keeps the method fast, but early mistakes can carry forward.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Guide tree: who gets aligned first?</a:t>
            </a:r>
            <a:endParaRPr lang="en-US" sz="3400" dirty="0"/>
          </a:p>
        </p:txBody>
      </p:sp>
      <p:graphicFrame>
        <p:nvGraphicFramePr>
          <p:cNvPr id="7" name="distance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76072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Human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Mouse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Chicken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Zebrafish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Yeast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Human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Mouse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79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Chicken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Zebrafish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Yeast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79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Distance = % of positions that differ (illustrative values). The smallest distance, Human–Mouse at 8%, is joined first.</a:t>
            </a:r>
            <a:endParaRPr lang="en-US" sz="1500" dirty="0"/>
          </a:p>
        </p:txBody>
      </p:sp>
      <p:sp>
        <p:nvSpPr>
          <p:cNvPr id="5" name="tree-line"/>
          <p:cNvSpPr/>
          <p:nvPr/>
        </p:nvSpPr>
        <p:spPr>
          <a:xfrm>
            <a:off x="8778240" y="2011680"/>
            <a:ext cx="0" cy="59436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6" name="tree-line"/>
          <p:cNvSpPr/>
          <p:nvPr/>
        </p:nvSpPr>
        <p:spPr>
          <a:xfrm>
            <a:off x="8778240" y="2011680"/>
            <a:ext cx="640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3" name="tree-line"/>
          <p:cNvSpPr/>
          <p:nvPr/>
        </p:nvSpPr>
        <p:spPr>
          <a:xfrm>
            <a:off x="8778240" y="2606040"/>
            <a:ext cx="640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8" name="badge-1"/>
          <p:cNvSpPr txBox="1"/>
          <p:nvPr/>
        </p:nvSpPr>
        <p:spPr>
          <a:xfrm>
            <a:off x="8887968" y="21534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ree-line"/>
          <p:cNvSpPr/>
          <p:nvPr/>
        </p:nvSpPr>
        <p:spPr>
          <a:xfrm>
            <a:off x="8138160" y="2308860"/>
            <a:ext cx="0" cy="8915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0" name="tree-line"/>
          <p:cNvSpPr/>
          <p:nvPr/>
        </p:nvSpPr>
        <p:spPr>
          <a:xfrm>
            <a:off x="8138160" y="2308860"/>
            <a:ext cx="640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1" name="tree-line"/>
          <p:cNvSpPr/>
          <p:nvPr/>
        </p:nvSpPr>
        <p:spPr>
          <a:xfrm>
            <a:off x="8138160" y="3200400"/>
            <a:ext cx="12801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badge-2"/>
          <p:cNvSpPr txBox="1"/>
          <p:nvPr/>
        </p:nvSpPr>
        <p:spPr>
          <a:xfrm>
            <a:off x="8247888" y="259918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ree-line"/>
          <p:cNvSpPr/>
          <p:nvPr/>
        </p:nvSpPr>
        <p:spPr>
          <a:xfrm>
            <a:off x="7498080" y="2754630"/>
            <a:ext cx="0" cy="104013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4" name="tree-line"/>
          <p:cNvSpPr/>
          <p:nvPr/>
        </p:nvSpPr>
        <p:spPr>
          <a:xfrm>
            <a:off x="7498080" y="2754630"/>
            <a:ext cx="640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5" name="tree-line"/>
          <p:cNvSpPr/>
          <p:nvPr/>
        </p:nvSpPr>
        <p:spPr>
          <a:xfrm>
            <a:off x="7498080" y="3794760"/>
            <a:ext cx="192024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6" name="badge-3"/>
          <p:cNvSpPr txBox="1"/>
          <p:nvPr/>
        </p:nvSpPr>
        <p:spPr>
          <a:xfrm>
            <a:off x="7607808" y="311901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ree-line"/>
          <p:cNvSpPr/>
          <p:nvPr/>
        </p:nvSpPr>
        <p:spPr>
          <a:xfrm>
            <a:off x="6858000" y="3274466"/>
            <a:ext cx="0" cy="111465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8" name="tree-line"/>
          <p:cNvSpPr/>
          <p:nvPr/>
        </p:nvSpPr>
        <p:spPr>
          <a:xfrm>
            <a:off x="6858000" y="3274466"/>
            <a:ext cx="6400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9" name="tree-line"/>
          <p:cNvSpPr/>
          <p:nvPr/>
        </p:nvSpPr>
        <p:spPr>
          <a:xfrm>
            <a:off x="6858000" y="4389120"/>
            <a:ext cx="25603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0" name="badge-4"/>
          <p:cNvSpPr txBox="1"/>
          <p:nvPr/>
        </p:nvSpPr>
        <p:spPr>
          <a:xfrm>
            <a:off x="6967728" y="367588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555480" y="1847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Human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555480" y="24414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Mouse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555480" y="3035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Chicken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555480" y="36301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Zebrafish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555480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Yeast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Numbers show the order of joining</a:t>
            </a:r>
            <a:endParaRPr lang="en-US" sz="1400" dirty="0"/>
          </a:p>
        </p:txBody>
      </p:sp>
      <p:sp>
        <p:nvSpPr>
          <p:cNvPr id="27" name="band-tree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The guide tree is the alignment’s to-do list. It comes from distances, so treat it as a guide, not as proven evolutionary history.</a:t>
            </a:r>
            <a:endParaRPr lang="en-US" sz="1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Progressive alignment, step by step</a:t>
            </a:r>
            <a:endParaRPr lang="en-US" sz="3400" dirty="0"/>
          </a:p>
        </p:txBody>
      </p:sp>
      <p:sp>
        <p:nvSpPr>
          <p:cNvPr id="3" name="panel0"/>
          <p:cNvSpPr/>
          <p:nvPr/>
        </p:nvSpPr>
        <p:spPr>
          <a:xfrm>
            <a:off x="548640" y="141732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-1"/>
          <p:cNvSpPr txBox="1"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Align the closest pair</a:t>
            </a:r>
            <a:endParaRPr lang="en-US" sz="1800" dirty="0"/>
          </a:p>
        </p:txBody>
      </p:sp>
      <p:sp>
        <p:nvSpPr>
          <p:cNvPr id="6" name="mono0"/>
          <p:cNvSpPr txBox="1"/>
          <p:nvPr/>
        </p:nvSpPr>
        <p:spPr>
          <a:xfrm>
            <a:off x="777240" y="23317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    KLVAWDGTFGAC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     KLVAWEGTFGAC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Human + Mouse are only 8% apart, so they go first.</a:t>
            </a:r>
            <a:endParaRPr lang="en-US" sz="1500" dirty="0"/>
          </a:p>
        </p:txBody>
      </p:sp>
      <p:sp>
        <p:nvSpPr>
          <p:cNvPr id="8" name="arrow0"/>
          <p:cNvSpPr/>
          <p:nvPr/>
        </p:nvSpPr>
        <p:spPr>
          <a:xfrm>
            <a:off x="4096512" y="2926080"/>
            <a:ext cx="21945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panel1"/>
          <p:cNvSpPr/>
          <p:nvPr/>
        </p:nvSpPr>
        <p:spPr>
          <a:xfrm>
            <a:off x="4343400" y="141732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dge-2"/>
          <p:cNvSpPr txBox="1"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the next closest</a:t>
            </a:r>
            <a:endParaRPr lang="en-US" sz="1800" dirty="0"/>
          </a:p>
        </p:txBody>
      </p:sp>
      <p:sp>
        <p:nvSpPr>
          <p:cNvPr id="12" name="mono1"/>
          <p:cNvSpPr txBox="1"/>
          <p:nvPr/>
        </p:nvSpPr>
        <p:spPr>
          <a:xfrm>
            <a:off x="4572000" y="23317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    KLVAWDGTFGAC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     KLVAWEGTFGAC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Chicken   KLIAWDGSFGAC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Chicken joins the Human–Mouse block.</a:t>
            </a:r>
            <a:endParaRPr lang="en-US" sz="1500" dirty="0"/>
          </a:p>
        </p:txBody>
      </p:sp>
      <p:sp>
        <p:nvSpPr>
          <p:cNvPr id="14" name="arrow1"/>
          <p:cNvSpPr/>
          <p:nvPr/>
        </p:nvSpPr>
        <p:spPr>
          <a:xfrm>
            <a:off x="7891272" y="2926080"/>
            <a:ext cx="219456" cy="32918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panel2"/>
          <p:cNvSpPr/>
          <p:nvPr/>
        </p:nvSpPr>
        <p:spPr>
          <a:xfrm>
            <a:off x="8138160" y="141732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-3"/>
          <p:cNvSpPr txBox="1"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adding</a:t>
            </a:r>
            <a:endParaRPr lang="en-US" sz="1800" dirty="0"/>
          </a:p>
        </p:txBody>
      </p:sp>
      <p:sp>
        <p:nvSpPr>
          <p:cNvPr id="18" name="mono2"/>
          <p:cNvSpPr txBox="1"/>
          <p:nvPr/>
        </p:nvSpPr>
        <p:spPr>
          <a:xfrm>
            <a:off x="8366760" y="23317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    KLVAWDGTFGAC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     KLVAWEGTFGAC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Chicken   KLIAWDGSFGAC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Zebrafish KLVGWDGTF</a:t>
            </a:r>
            <a:r>
              <a:rPr lang="en-US" sz="1400" b="1" dirty="0">
                <a:solidFill>
                  <a:schemeClr val="tx2"/>
                </a:solidFill>
                <a:highlight>
                  <a:srgbClr val="F39C3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gap is inserted to fit Zebrafish and stays in place.</a:t>
            </a:r>
            <a:endParaRPr lang="en-US" sz="1500" dirty="0"/>
          </a:p>
        </p:txBody>
      </p:sp>
      <p:sp>
        <p:nvSpPr>
          <p:cNvPr id="20" name="band-profile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After each step, the aligned block acts like a single profile. New sequences are aligned against the whole block, not against just one sequence.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ClustalW vs MUSCLE</a:t>
            </a:r>
            <a:endParaRPr lang="en-US" sz="3400" dirty="0"/>
          </a:p>
        </p:txBody>
      </p:sp>
      <p:graphicFrame>
        <p:nvGraphicFramePr>
          <p:cNvPr id="9" name="too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9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8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ClustalW</a:t>
                      </a:r>
                      <a:endParaRPr lang="en-US" sz="18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MUSCLE</a:t>
                      </a:r>
                      <a:endParaRPr lang="en-US" sz="18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Core idea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Progressive alignment with a neighbour-joining guide tree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Progressive alignment, then iterative refinement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Speed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Slower on large sets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Fast; scales to thousands of sequences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Accuracy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Good for close relatives; weaker on distant ones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Generally more accurate on typical benchmarks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</a:rPr>
                        <a:t>Typical use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Teaching, small sets, older pipelines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Everyday protein and DNA alignments</a:t>
                      </a:r>
                      <a:endParaRPr lang="en-US" sz="17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hip-FaFlask"/>
          <p:cNvSpPr/>
          <p:nvPr/>
        </p:nvSpPr>
        <p:spPr>
          <a:xfrm>
            <a:off x="548640" y="5349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Flas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5524805"/>
            <a:ext cx="380390" cy="38039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5349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Also worth knowing: MAFFT, T-Coffee and Clustal Omega. All of them follow the same idea of building the alignment from a guide tree.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Conserved residues, motifs and domains</a:t>
            </a:r>
            <a:endParaRPr lang="en-US" sz="3400" dirty="0"/>
          </a:p>
        </p:txBody>
      </p:sp>
      <p:sp>
        <p:nvSpPr>
          <p:cNvPr id="3" name="card-def0"/>
          <p:cNvSpPr/>
          <p:nvPr/>
        </p:nvSpPr>
        <p:spPr>
          <a:xfrm>
            <a:off x="548640" y="141732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hip-FaLock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Lo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Conserved residue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54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One column that stays the same across the sequences.</a:t>
            </a:r>
            <a:endParaRPr lang="en-US" sz="1600" dirty="0"/>
          </a:p>
        </p:txBody>
      </p:sp>
      <p:sp>
        <p:nvSpPr>
          <p:cNvPr id="8" name="ex0"/>
          <p:cNvSpPr txBox="1"/>
          <p:nvPr/>
        </p:nvSpPr>
        <p:spPr>
          <a:xfrm>
            <a:off x="868680" y="4206240"/>
            <a:ext cx="283464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Our MSA: W, G, C and H columns</a:t>
            </a:r>
            <a:endParaRPr lang="en-US" sz="1400" dirty="0"/>
          </a:p>
        </p:txBody>
      </p:sp>
      <p:sp>
        <p:nvSpPr>
          <p:cNvPr id="9" name="card-def1"/>
          <p:cNvSpPr/>
          <p:nvPr/>
        </p:nvSpPr>
        <p:spPr>
          <a:xfrm>
            <a:off x="4357116" y="141732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chip-FaFingerprint"/>
          <p:cNvSpPr/>
          <p:nvPr/>
        </p:nvSpPr>
        <p:spPr>
          <a:xfrm>
            <a:off x="4677156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Fingerprin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666" y="18891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7156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Motif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77156" y="3154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pattern of a few residues tied to a specific job.</a:t>
            </a:r>
            <a:endParaRPr lang="en-US" sz="1600" dirty="0"/>
          </a:p>
        </p:txBody>
      </p:sp>
      <p:sp>
        <p:nvSpPr>
          <p:cNvPr id="14" name="ex1"/>
          <p:cNvSpPr txBox="1"/>
          <p:nvPr/>
        </p:nvSpPr>
        <p:spPr>
          <a:xfrm>
            <a:off x="4677156" y="4206240"/>
            <a:ext cx="283464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e.g. P-loop: GxxxxGK[ST]</a:t>
            </a:r>
            <a:endParaRPr lang="en-US" sz="1400" dirty="0"/>
          </a:p>
        </p:txBody>
      </p:sp>
      <p:sp>
        <p:nvSpPr>
          <p:cNvPr id="15" name="card-def2"/>
          <p:cNvSpPr/>
          <p:nvPr/>
        </p:nvSpPr>
        <p:spPr>
          <a:xfrm>
            <a:off x="8165592" y="1417320"/>
            <a:ext cx="3474720" cy="35204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hip-FaCubes"/>
          <p:cNvSpPr/>
          <p:nvPr/>
        </p:nvSpPr>
        <p:spPr>
          <a:xfrm>
            <a:off x="8485632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FaCube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3142" y="188915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85632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Domain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485632" y="3154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longer region, often 50–250 residues, that folds and works as a unit.</a:t>
            </a:r>
            <a:endParaRPr lang="en-US" sz="1600" dirty="0"/>
          </a:p>
        </p:txBody>
      </p:sp>
      <p:sp>
        <p:nvSpPr>
          <p:cNvPr id="20" name="ex2"/>
          <p:cNvSpPr txBox="1"/>
          <p:nvPr/>
        </p:nvSpPr>
        <p:spPr>
          <a:xfrm>
            <a:off x="8485632" y="4206240"/>
            <a:ext cx="283464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e.g. a DNA-binding domain</a:t>
            </a:r>
            <a:endParaRPr lang="en-US" sz="1400" dirty="0"/>
          </a:p>
        </p:txBody>
      </p:sp>
      <p:sp>
        <p:nvSpPr>
          <p:cNvPr id="21" name="band-why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Why are they conserved?  Changes at critical sites usually harm the protein, so natural selection keeps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do gaps mean?</a:t>
            </a:r>
            <a:endParaRPr lang="en-US" sz="3400" dirty="0"/>
          </a:p>
        </p:txBody>
      </p:sp>
      <p:sp>
        <p:nvSpPr>
          <p:cNvPr id="3" name="card-gapdemo"/>
          <p:cNvSpPr/>
          <p:nvPr/>
        </p:nvSpPr>
        <p:spPr>
          <a:xfrm>
            <a:off x="548640" y="1463040"/>
            <a:ext cx="52120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closer look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Human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614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Zebrafish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369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Yeast</a:t>
            </a:r>
            <a:endParaRPr lang="en-US" sz="1400" dirty="0"/>
          </a:p>
        </p:txBody>
      </p:sp>
      <p:sp>
        <p:nvSpPr>
          <p:cNvPr id="8" name="msa-r0c0"/>
          <p:cNvSpPr txBox="1"/>
          <p:nvPr/>
        </p:nvSpPr>
        <p:spPr>
          <a:xfrm>
            <a:off x="2011680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9" name="msa-r0c1"/>
          <p:cNvSpPr txBox="1"/>
          <p:nvPr/>
        </p:nvSpPr>
        <p:spPr>
          <a:xfrm>
            <a:off x="2487168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10" name="msa-r0c2"/>
          <p:cNvSpPr txBox="1"/>
          <p:nvPr/>
        </p:nvSpPr>
        <p:spPr>
          <a:xfrm>
            <a:off x="2962656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1" name="msa-r0c3"/>
          <p:cNvSpPr txBox="1"/>
          <p:nvPr/>
        </p:nvSpPr>
        <p:spPr>
          <a:xfrm>
            <a:off x="3438144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msa-r0c4"/>
          <p:cNvSpPr txBox="1"/>
          <p:nvPr/>
        </p:nvSpPr>
        <p:spPr>
          <a:xfrm>
            <a:off x="3913632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msa-r0c5"/>
          <p:cNvSpPr txBox="1"/>
          <p:nvPr/>
        </p:nvSpPr>
        <p:spPr>
          <a:xfrm>
            <a:off x="4389120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800" dirty="0"/>
          </a:p>
        </p:txBody>
      </p:sp>
      <p:sp>
        <p:nvSpPr>
          <p:cNvPr id="14" name="msa-r0c6"/>
          <p:cNvSpPr txBox="1"/>
          <p:nvPr/>
        </p:nvSpPr>
        <p:spPr>
          <a:xfrm>
            <a:off x="4864608" y="2286000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msa-r1c0"/>
          <p:cNvSpPr txBox="1"/>
          <p:nvPr/>
        </p:nvSpPr>
        <p:spPr>
          <a:xfrm>
            <a:off x="2011680" y="2761488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16" name="msa-r1c1"/>
          <p:cNvSpPr txBox="1"/>
          <p:nvPr/>
        </p:nvSpPr>
        <p:spPr>
          <a:xfrm>
            <a:off x="2487168" y="2761488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800" dirty="0"/>
          </a:p>
        </p:txBody>
      </p:sp>
      <p:sp>
        <p:nvSpPr>
          <p:cNvPr id="17" name="msa-r1c2"/>
          <p:cNvSpPr txBox="1"/>
          <p:nvPr/>
        </p:nvSpPr>
        <p:spPr>
          <a:xfrm>
            <a:off x="2962656" y="2761488"/>
            <a:ext cx="475488" cy="475488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800" dirty="0"/>
          </a:p>
        </p:txBody>
      </p:sp>
      <p:sp>
        <p:nvSpPr>
          <p:cNvPr id="18" name="msa-r1c3"/>
          <p:cNvSpPr txBox="1"/>
          <p:nvPr/>
        </p:nvSpPr>
        <p:spPr>
          <a:xfrm>
            <a:off x="3438144" y="2761488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msa-r1c4"/>
          <p:cNvSpPr txBox="1"/>
          <p:nvPr/>
        </p:nvSpPr>
        <p:spPr>
          <a:xfrm>
            <a:off x="3913632" y="2761488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msa-r1c5"/>
          <p:cNvSpPr txBox="1"/>
          <p:nvPr/>
        </p:nvSpPr>
        <p:spPr>
          <a:xfrm>
            <a:off x="4389120" y="2761488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800" dirty="0"/>
          </a:p>
        </p:txBody>
      </p:sp>
      <p:sp>
        <p:nvSpPr>
          <p:cNvPr id="21" name="msa-r1c6"/>
          <p:cNvSpPr txBox="1"/>
          <p:nvPr/>
        </p:nvSpPr>
        <p:spPr>
          <a:xfrm>
            <a:off x="4864608" y="2761488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22" name="msa-r2c0"/>
          <p:cNvSpPr txBox="1"/>
          <p:nvPr/>
        </p:nvSpPr>
        <p:spPr>
          <a:xfrm>
            <a:off x="2011680" y="3236976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msa-r2c1"/>
          <p:cNvSpPr txBox="1"/>
          <p:nvPr/>
        </p:nvSpPr>
        <p:spPr>
          <a:xfrm>
            <a:off x="2487168" y="3236976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24" name="msa-r2c2"/>
          <p:cNvSpPr txBox="1"/>
          <p:nvPr/>
        </p:nvSpPr>
        <p:spPr>
          <a:xfrm>
            <a:off x="2962656" y="3236976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25" name="msa-r2c3"/>
          <p:cNvSpPr txBox="1"/>
          <p:nvPr/>
        </p:nvSpPr>
        <p:spPr>
          <a:xfrm>
            <a:off x="3438144" y="3236976"/>
            <a:ext cx="475488" cy="475488"/>
          </a:xfrm>
          <a:prstGeom prst="rect">
            <a:avLst/>
          </a:prstGeom>
          <a:solidFill>
            <a:schemeClr val="bg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800" dirty="0"/>
          </a:p>
        </p:txBody>
      </p:sp>
      <p:sp>
        <p:nvSpPr>
          <p:cNvPr id="26" name="msa-r2c4"/>
          <p:cNvSpPr txBox="1"/>
          <p:nvPr/>
        </p:nvSpPr>
        <p:spPr>
          <a:xfrm>
            <a:off x="3913632" y="3236976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msa-r2c5"/>
          <p:cNvSpPr txBox="1"/>
          <p:nvPr/>
        </p:nvSpPr>
        <p:spPr>
          <a:xfrm>
            <a:off x="4389120" y="3236976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800" dirty="0"/>
          </a:p>
        </p:txBody>
      </p:sp>
      <p:sp>
        <p:nvSpPr>
          <p:cNvPr id="28" name="msa-r2c6"/>
          <p:cNvSpPr txBox="1"/>
          <p:nvPr/>
        </p:nvSpPr>
        <p:spPr>
          <a:xfrm>
            <a:off x="4864608" y="3236976"/>
            <a:ext cx="475488" cy="47548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069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Zebrafish is missing one residue. Either it lost one, or the others gained one. The alignment alone cannot say which.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074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gap is a hypothesis about history, not a fact.</a:t>
            </a:r>
            <a:endParaRPr lang="en-US" sz="1700" dirty="0"/>
          </a:p>
        </p:txBody>
      </p:sp>
      <p:sp>
        <p:nvSpPr>
          <p:cNvPr id="31" name="chip-FaDna"/>
          <p:cNvSpPr/>
          <p:nvPr/>
        </p:nvSpPr>
        <p:spPr>
          <a:xfrm>
            <a:off x="630936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-FaDn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1751990"/>
            <a:ext cx="427939" cy="427939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736092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Insertion or deletion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736092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gap marks an indel that likely happened during evolution.</a:t>
            </a:r>
            <a:endParaRPr lang="en-US" sz="1600" dirty="0"/>
          </a:p>
        </p:txBody>
      </p:sp>
      <p:sp>
        <p:nvSpPr>
          <p:cNvPr id="35" name="chip-FaPuzzlePiece"/>
          <p:cNvSpPr/>
          <p:nvPr/>
        </p:nvSpPr>
        <p:spPr>
          <a:xfrm>
            <a:off x="6309360" y="3108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-FaPuzzlePiec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3306470"/>
            <a:ext cx="427939" cy="427939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36092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Where gaps appear</a:t>
            </a:r>
            <a:endParaRPr lang="en-US" sz="2000" dirty="0"/>
          </a:p>
        </p:txBody>
      </p:sp>
      <p:sp>
        <p:nvSpPr>
          <p:cNvPr id="38" name="Text 34"/>
          <p:cNvSpPr txBox="1"/>
          <p:nvPr/>
        </p:nvSpPr>
        <p:spPr>
          <a:xfrm>
            <a:off x="7360920" y="3520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Gaps cluster in flexible loops; the conserved core rarely has them.</a:t>
            </a:r>
            <a:endParaRPr lang="en-US" sz="1600" dirty="0"/>
          </a:p>
        </p:txBody>
      </p:sp>
      <p:sp>
        <p:nvSpPr>
          <p:cNvPr id="39" name="chip-FaSearch"/>
          <p:cNvSpPr/>
          <p:nvPr/>
        </p:nvSpPr>
        <p:spPr>
          <a:xfrm>
            <a:off x="6309360" y="4663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on-FaSearc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70" y="4860950"/>
            <a:ext cx="427939" cy="427939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360920" y="4663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Handle with care</a:t>
            </a:r>
            <a:endParaRPr lang="en-US" sz="2000" dirty="0"/>
          </a:p>
        </p:txBody>
      </p:sp>
      <p:sp>
        <p:nvSpPr>
          <p:cNvPr id="42" name="Text 37"/>
          <p:cNvSpPr txBox="1"/>
          <p:nvPr/>
        </p:nvSpPr>
        <p:spPr>
          <a:xfrm>
            <a:off x="7360920" y="5074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Gap placement depends on the penalties used, so check columns full of gaps.</a:t>
            </a:r>
            <a:endParaRPr lang="en-US" sz="16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Class activities</a:t>
            </a:r>
            <a:endParaRPr lang="en-US" sz="3400" dirty="0"/>
          </a:p>
        </p:txBody>
      </p:sp>
      <p:sp>
        <p:nvSpPr>
          <p:cNvPr id="3" name="card-act0"/>
          <p:cNvSpPr/>
          <p:nvPr/>
        </p:nvSpPr>
        <p:spPr>
          <a:xfrm>
            <a:off x="548640" y="1463040"/>
            <a:ext cx="542239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hip-FaSearch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Searc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0025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ACTIVITY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the MSA</a:t>
            </a:r>
            <a:endParaRPr lang="en-US" sz="2600" dirty="0"/>
          </a:p>
        </p:txBody>
      </p:sp>
      <p:sp>
        <p:nvSpPr>
          <p:cNvPr id="8" name="time0"/>
          <p:cNvSpPr txBox="1"/>
          <p:nvPr/>
        </p:nvSpPr>
        <p:spPr>
          <a:xfrm>
            <a:off x="4617720" y="1920240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~10 min</a:t>
            </a:r>
            <a:endParaRPr lang="en-US" sz="1400" dirty="0"/>
          </a:p>
        </p:txBody>
      </p:sp>
      <p:sp>
        <p:nvSpPr>
          <p:cNvPr id="9" name="act-list0"/>
          <p:cNvSpPr txBox="1"/>
          <p:nvPr/>
        </p:nvSpPr>
        <p:spPr>
          <a:xfrm>
            <a:off x="960120" y="31546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Look at the sample alignment on the board.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Circle the columns that look conserved.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 any short motif and compare with a neighbour.</a:t>
            </a:r>
            <a:endParaRPr lang="en-US" sz="1800" dirty="0"/>
          </a:p>
        </p:txBody>
      </p:sp>
      <p:sp>
        <p:nvSpPr>
          <p:cNvPr id="10" name="card-act1"/>
          <p:cNvSpPr/>
          <p:nvPr/>
        </p:nvSpPr>
        <p:spPr>
          <a:xfrm>
            <a:off x="6217920" y="1463040"/>
            <a:ext cx="542239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hip-FaComments"/>
          <p:cNvSpPr/>
          <p:nvPr/>
        </p:nvSpPr>
        <p:spPr>
          <a:xfrm>
            <a:off x="658368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FaComment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0025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26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ACTIVITY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the gaps</a:t>
            </a:r>
            <a:endParaRPr lang="en-US" sz="2600" dirty="0"/>
          </a:p>
        </p:txBody>
      </p:sp>
      <p:sp>
        <p:nvSpPr>
          <p:cNvPr id="15" name="time1"/>
          <p:cNvSpPr txBox="1"/>
          <p:nvPr/>
        </p:nvSpPr>
        <p:spPr>
          <a:xfrm>
            <a:off x="10287000" y="1920240"/>
            <a:ext cx="109728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~10 min</a:t>
            </a:r>
            <a:endParaRPr lang="en-US" sz="1400" dirty="0"/>
          </a:p>
        </p:txBody>
      </p:sp>
      <p:sp>
        <p:nvSpPr>
          <p:cNvPr id="16" name="act-list1"/>
          <p:cNvSpPr txBox="1"/>
          <p:nvPr/>
        </p:nvSpPr>
        <p:spPr>
          <a:xfrm>
            <a:off x="6629400" y="31546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might one sequence have a gap?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Insertion, deletion, or aligner artifact?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Which gaps would you trust most, and why?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Lab: align it, then see it</a:t>
            </a:r>
            <a:endParaRPr lang="en-US" sz="3400" dirty="0"/>
          </a:p>
        </p:txBody>
      </p:sp>
      <p:sp>
        <p:nvSpPr>
          <p:cNvPr id="3" name="code-panel0"/>
          <p:cNvSpPr/>
          <p:nvPr/>
        </p:nvSpPr>
        <p:spPr>
          <a:xfrm>
            <a:off x="548640" y="1371600"/>
            <a:ext cx="544068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Python  |  Biopython wrapper</a:t>
            </a:r>
            <a:endParaRPr lang="en-US" sz="1600" dirty="0"/>
          </a:p>
        </p:txBody>
      </p:sp>
      <p:sp>
        <p:nvSpPr>
          <p:cNvPr id="5" name="code0"/>
          <p:cNvSpPr txBox="1"/>
          <p:nvPr/>
        </p:nvSpPr>
        <p:spPr>
          <a:xfrm>
            <a:off x="822960" y="201168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Bio.Align.Applications import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MuscleCommandline)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AlignIO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= MuscleCommandline(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input="globins.fasta",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out="globins_aln.fasta")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aln = AlignIO.read(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"globins_aln.fasta", "fasta")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print(aln)</a:t>
            </a:r>
            <a:endParaRPr lang="en-US" sz="1400" dirty="0"/>
          </a:p>
        </p:txBody>
      </p:sp>
      <p:sp>
        <p:nvSpPr>
          <p:cNvPr id="6" name="code-panel1"/>
          <p:cNvSpPr/>
          <p:nvPr/>
        </p:nvSpPr>
        <p:spPr>
          <a:xfrm>
            <a:off x="6199632" y="1371600"/>
            <a:ext cx="544068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73952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  |  msa package</a:t>
            </a:r>
            <a:endParaRPr lang="en-US" sz="1600" dirty="0"/>
          </a:p>
        </p:txBody>
      </p:sp>
      <p:sp>
        <p:nvSpPr>
          <p:cNvPr id="8" name="code1"/>
          <p:cNvSpPr txBox="1"/>
          <p:nvPr/>
        </p:nvSpPr>
        <p:spPr>
          <a:xfrm>
            <a:off x="6473952" y="2011680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library(msa)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seqs &lt;- readAAStringSet("globins.fasta")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aln &lt;- msa(seqs, method = "Muscle")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print(aln, show = "complete")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msaPrettyPrint(aln, output = "pdf",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askForOverwrite = FALSE)</a:t>
            </a:r>
            <a:endParaRPr lang="en-US" sz="1400" dirty="0"/>
          </a:p>
        </p:txBody>
      </p:sp>
      <p:sp>
        <p:nvSpPr>
          <p:cNvPr id="9" name="tip-box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Check before you run: MUSCLE v5 uses a different command line than the wrapper expects (-align / -output). msaPrettyPrint needs LaTeX installed.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Assignment: align a gene family</a:t>
            </a:r>
            <a:endParaRPr lang="en-US" sz="3400" dirty="0"/>
          </a:p>
        </p:txBody>
      </p:sp>
      <p:sp>
        <p:nvSpPr>
          <p:cNvPr id="3" name="card-task"/>
          <p:cNvSpPr/>
          <p:nvPr/>
        </p:nvSpPr>
        <p:spPr>
          <a:xfrm>
            <a:off x="548640" y="1463040"/>
            <a:ext cx="6583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</a:t>
            </a:r>
            <a:endParaRPr lang="en-US" sz="2200" dirty="0"/>
          </a:p>
        </p:txBody>
      </p:sp>
      <p:sp>
        <p:nvSpPr>
          <p:cNvPr id="5" name="badge-1"/>
          <p:cNvSpPr txBox="1"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2402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Pick a gene family with 5–6 sequences (for example globins or cytochrome c).</a:t>
            </a:r>
            <a:endParaRPr lang="en-US" sz="1700" dirty="0"/>
          </a:p>
        </p:txBody>
      </p:sp>
      <p:sp>
        <p:nvSpPr>
          <p:cNvPr id="7" name="badge-2"/>
          <p:cNvSpPr txBox="1"/>
          <p:nvPr/>
        </p:nvSpPr>
        <p:spPr>
          <a:xfrm>
            <a:off x="86868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154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Align them with MUSCLE or ClustalW through Biopython.</a:t>
            </a:r>
            <a:endParaRPr lang="en-US" sz="1700" dirty="0"/>
          </a:p>
        </p:txBody>
      </p:sp>
      <p:sp>
        <p:nvSpPr>
          <p:cNvPr id="9" name="badge-3"/>
          <p:cNvSpPr txBox="1"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4069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Visualize the alignment in R with the msa package.</a:t>
            </a:r>
            <a:endParaRPr lang="en-US" sz="1700" dirty="0"/>
          </a:p>
        </p:txBody>
      </p:sp>
      <p:sp>
        <p:nvSpPr>
          <p:cNvPr id="11" name="badge-4"/>
          <p:cNvSpPr txBox="1"/>
          <p:nvPr/>
        </p:nvSpPr>
        <p:spPr>
          <a:xfrm>
            <a:off x="868680" y="5029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9834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Report the conserved regions you find.</a:t>
            </a:r>
            <a:endParaRPr lang="en-US" sz="1700" dirty="0"/>
          </a:p>
        </p:txBody>
      </p:sp>
      <p:sp>
        <p:nvSpPr>
          <p:cNvPr id="13" name="card-submit"/>
          <p:cNvSpPr/>
          <p:nvPr/>
        </p:nvSpPr>
        <p:spPr>
          <a:xfrm>
            <a:off x="7498080" y="1463040"/>
            <a:ext cx="4142232" cy="4572000"/>
          </a:xfrm>
          <a:prstGeom prst="roundRect">
            <a:avLst>
              <a:gd name="adj" fmla="val 2649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chip-FaClipboardCheck"/>
          <p:cNvSpPr/>
          <p:nvPr/>
        </p:nvSpPr>
        <p:spPr>
          <a:xfrm>
            <a:off x="781812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Clipboard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630" y="1934870"/>
            <a:ext cx="427939" cy="42793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81812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submit</a:t>
            </a:r>
            <a:endParaRPr lang="en-US" sz="2200" dirty="0"/>
          </a:p>
        </p:txBody>
      </p:sp>
      <p:sp>
        <p:nvSpPr>
          <p:cNvPr id="17" name="submit-list"/>
          <p:cNvSpPr txBox="1"/>
          <p:nvPr/>
        </p:nvSpPr>
        <p:spPr>
          <a:xfrm>
            <a:off x="7818120" y="33375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The alignment file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One figure from 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 short report: conserved columns or motifs, and what the gaps suggest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212848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79776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46704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13632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47488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14416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9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48272" y="141732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Seq 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50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Seq 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169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Seq 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838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Seq 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5079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Seq 5</a:t>
            </a:r>
            <a:endParaRPr lang="en-US" sz="1400" dirty="0"/>
          </a:p>
        </p:txBody>
      </p:sp>
      <p:sp>
        <p:nvSpPr>
          <p:cNvPr id="18" name="msa-r0c0"/>
          <p:cNvSpPr txBox="1"/>
          <p:nvPr/>
        </p:nvSpPr>
        <p:spPr>
          <a:xfrm>
            <a:off x="1645920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msa-r0c1"/>
          <p:cNvSpPr txBox="1"/>
          <p:nvPr/>
        </p:nvSpPr>
        <p:spPr>
          <a:xfrm>
            <a:off x="2212848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20" name="msa-r0c2"/>
          <p:cNvSpPr txBox="1"/>
          <p:nvPr/>
        </p:nvSpPr>
        <p:spPr>
          <a:xfrm>
            <a:off x="2779776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21" name="msa-r0c3"/>
          <p:cNvSpPr txBox="1"/>
          <p:nvPr/>
        </p:nvSpPr>
        <p:spPr>
          <a:xfrm>
            <a:off x="3346704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22" name="msa-r0c4"/>
          <p:cNvSpPr txBox="1"/>
          <p:nvPr/>
        </p:nvSpPr>
        <p:spPr>
          <a:xfrm>
            <a:off x="3913632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23" name="msa-r0c5"/>
          <p:cNvSpPr txBox="1"/>
          <p:nvPr/>
        </p:nvSpPr>
        <p:spPr>
          <a:xfrm>
            <a:off x="4480560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000" dirty="0"/>
          </a:p>
        </p:txBody>
      </p:sp>
      <p:sp>
        <p:nvSpPr>
          <p:cNvPr id="24" name="msa-r0c6"/>
          <p:cNvSpPr txBox="1"/>
          <p:nvPr/>
        </p:nvSpPr>
        <p:spPr>
          <a:xfrm>
            <a:off x="5047488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msa-r0c7"/>
          <p:cNvSpPr txBox="1"/>
          <p:nvPr/>
        </p:nvSpPr>
        <p:spPr>
          <a:xfrm>
            <a:off x="5614416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msa-r0c8"/>
          <p:cNvSpPr txBox="1"/>
          <p:nvPr/>
        </p:nvSpPr>
        <p:spPr>
          <a:xfrm>
            <a:off x="6181344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000" dirty="0"/>
          </a:p>
        </p:txBody>
      </p:sp>
      <p:sp>
        <p:nvSpPr>
          <p:cNvPr id="27" name="msa-r0c9"/>
          <p:cNvSpPr txBox="1"/>
          <p:nvPr/>
        </p:nvSpPr>
        <p:spPr>
          <a:xfrm>
            <a:off x="6748272" y="1783080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000" dirty="0"/>
          </a:p>
        </p:txBody>
      </p:sp>
      <p:sp>
        <p:nvSpPr>
          <p:cNvPr id="28" name="msa-r1c0"/>
          <p:cNvSpPr txBox="1"/>
          <p:nvPr/>
        </p:nvSpPr>
        <p:spPr>
          <a:xfrm>
            <a:off x="1645920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msa-r1c1"/>
          <p:cNvSpPr txBox="1"/>
          <p:nvPr/>
        </p:nvSpPr>
        <p:spPr>
          <a:xfrm>
            <a:off x="2212848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2000" dirty="0"/>
          </a:p>
        </p:txBody>
      </p:sp>
      <p:sp>
        <p:nvSpPr>
          <p:cNvPr id="30" name="msa-r1c2"/>
          <p:cNvSpPr txBox="1"/>
          <p:nvPr/>
        </p:nvSpPr>
        <p:spPr>
          <a:xfrm>
            <a:off x="2779776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000" dirty="0"/>
          </a:p>
        </p:txBody>
      </p:sp>
      <p:sp>
        <p:nvSpPr>
          <p:cNvPr id="31" name="msa-r1c3"/>
          <p:cNvSpPr txBox="1"/>
          <p:nvPr/>
        </p:nvSpPr>
        <p:spPr>
          <a:xfrm>
            <a:off x="3346704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32" name="msa-r1c4"/>
          <p:cNvSpPr txBox="1"/>
          <p:nvPr/>
        </p:nvSpPr>
        <p:spPr>
          <a:xfrm>
            <a:off x="3913632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3" name="msa-r1c5"/>
          <p:cNvSpPr txBox="1"/>
          <p:nvPr/>
        </p:nvSpPr>
        <p:spPr>
          <a:xfrm>
            <a:off x="4480560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34" name="msa-r1c6"/>
          <p:cNvSpPr txBox="1"/>
          <p:nvPr/>
        </p:nvSpPr>
        <p:spPr>
          <a:xfrm>
            <a:off x="5047488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35" name="msa-r1c7"/>
          <p:cNvSpPr txBox="1"/>
          <p:nvPr/>
        </p:nvSpPr>
        <p:spPr>
          <a:xfrm>
            <a:off x="5614416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36" name="msa-r1c8"/>
          <p:cNvSpPr txBox="1"/>
          <p:nvPr/>
        </p:nvSpPr>
        <p:spPr>
          <a:xfrm>
            <a:off x="6181344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37" name="msa-r1c9"/>
          <p:cNvSpPr txBox="1"/>
          <p:nvPr/>
        </p:nvSpPr>
        <p:spPr>
          <a:xfrm>
            <a:off x="6748272" y="2350008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000" dirty="0"/>
          </a:p>
        </p:txBody>
      </p:sp>
      <p:sp>
        <p:nvSpPr>
          <p:cNvPr id="38" name="msa-r2c0"/>
          <p:cNvSpPr txBox="1"/>
          <p:nvPr/>
        </p:nvSpPr>
        <p:spPr>
          <a:xfrm>
            <a:off x="1645920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39" name="msa-r2c1"/>
          <p:cNvSpPr txBox="1"/>
          <p:nvPr/>
        </p:nvSpPr>
        <p:spPr>
          <a:xfrm>
            <a:off x="2212848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40" name="msa-r2c2"/>
          <p:cNvSpPr txBox="1"/>
          <p:nvPr/>
        </p:nvSpPr>
        <p:spPr>
          <a:xfrm>
            <a:off x="2779776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41" name="msa-r2c3"/>
          <p:cNvSpPr txBox="1"/>
          <p:nvPr/>
        </p:nvSpPr>
        <p:spPr>
          <a:xfrm>
            <a:off x="3346704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42" name="msa-r2c4"/>
          <p:cNvSpPr txBox="1"/>
          <p:nvPr/>
        </p:nvSpPr>
        <p:spPr>
          <a:xfrm>
            <a:off x="3913632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43" name="msa-r2c5"/>
          <p:cNvSpPr txBox="1"/>
          <p:nvPr/>
        </p:nvSpPr>
        <p:spPr>
          <a:xfrm>
            <a:off x="4480560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000" dirty="0"/>
          </a:p>
        </p:txBody>
      </p:sp>
      <p:sp>
        <p:nvSpPr>
          <p:cNvPr id="44" name="msa-r2c6"/>
          <p:cNvSpPr txBox="1"/>
          <p:nvPr/>
        </p:nvSpPr>
        <p:spPr>
          <a:xfrm>
            <a:off x="5047488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45" name="msa-r2c7"/>
          <p:cNvSpPr txBox="1"/>
          <p:nvPr/>
        </p:nvSpPr>
        <p:spPr>
          <a:xfrm>
            <a:off x="5614416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2000" dirty="0"/>
          </a:p>
        </p:txBody>
      </p:sp>
      <p:sp>
        <p:nvSpPr>
          <p:cNvPr id="46" name="msa-r2c8"/>
          <p:cNvSpPr txBox="1"/>
          <p:nvPr/>
        </p:nvSpPr>
        <p:spPr>
          <a:xfrm>
            <a:off x="6181344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000" dirty="0"/>
          </a:p>
        </p:txBody>
      </p:sp>
      <p:sp>
        <p:nvSpPr>
          <p:cNvPr id="47" name="msa-r2c9"/>
          <p:cNvSpPr txBox="1"/>
          <p:nvPr/>
        </p:nvSpPr>
        <p:spPr>
          <a:xfrm>
            <a:off x="6748272" y="2916936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2000" dirty="0"/>
          </a:p>
        </p:txBody>
      </p:sp>
      <p:sp>
        <p:nvSpPr>
          <p:cNvPr id="48" name="msa-r3c0"/>
          <p:cNvSpPr txBox="1"/>
          <p:nvPr/>
        </p:nvSpPr>
        <p:spPr>
          <a:xfrm>
            <a:off x="1645920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49" name="msa-r3c1"/>
          <p:cNvSpPr txBox="1"/>
          <p:nvPr/>
        </p:nvSpPr>
        <p:spPr>
          <a:xfrm>
            <a:off x="2212848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50" name="msa-r3c2"/>
          <p:cNvSpPr txBox="1"/>
          <p:nvPr/>
        </p:nvSpPr>
        <p:spPr>
          <a:xfrm>
            <a:off x="2779776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51" name="msa-r3c3"/>
          <p:cNvSpPr txBox="1"/>
          <p:nvPr/>
        </p:nvSpPr>
        <p:spPr>
          <a:xfrm>
            <a:off x="3346704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52" name="msa-r3c4"/>
          <p:cNvSpPr txBox="1"/>
          <p:nvPr/>
        </p:nvSpPr>
        <p:spPr>
          <a:xfrm>
            <a:off x="3913632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53" name="msa-r3c5"/>
          <p:cNvSpPr txBox="1"/>
          <p:nvPr/>
        </p:nvSpPr>
        <p:spPr>
          <a:xfrm>
            <a:off x="4480560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2000" dirty="0"/>
          </a:p>
        </p:txBody>
      </p:sp>
      <p:sp>
        <p:nvSpPr>
          <p:cNvPr id="54" name="msa-r3c6"/>
          <p:cNvSpPr txBox="1"/>
          <p:nvPr/>
        </p:nvSpPr>
        <p:spPr>
          <a:xfrm>
            <a:off x="5047488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000" dirty="0"/>
          </a:p>
        </p:txBody>
      </p:sp>
      <p:sp>
        <p:nvSpPr>
          <p:cNvPr id="55" name="msa-r3c7"/>
          <p:cNvSpPr txBox="1"/>
          <p:nvPr/>
        </p:nvSpPr>
        <p:spPr>
          <a:xfrm>
            <a:off x="5614416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56" name="msa-r3c8"/>
          <p:cNvSpPr txBox="1"/>
          <p:nvPr/>
        </p:nvSpPr>
        <p:spPr>
          <a:xfrm>
            <a:off x="6181344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000" dirty="0"/>
          </a:p>
        </p:txBody>
      </p:sp>
      <p:sp>
        <p:nvSpPr>
          <p:cNvPr id="57" name="msa-r3c9"/>
          <p:cNvSpPr txBox="1"/>
          <p:nvPr/>
        </p:nvSpPr>
        <p:spPr>
          <a:xfrm>
            <a:off x="6748272" y="3483864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000" dirty="0"/>
          </a:p>
        </p:txBody>
      </p:sp>
      <p:sp>
        <p:nvSpPr>
          <p:cNvPr id="58" name="msa-r4c0"/>
          <p:cNvSpPr txBox="1"/>
          <p:nvPr/>
        </p:nvSpPr>
        <p:spPr>
          <a:xfrm>
            <a:off x="1645920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2000" dirty="0"/>
          </a:p>
        </p:txBody>
      </p:sp>
      <p:sp>
        <p:nvSpPr>
          <p:cNvPr id="59" name="msa-r4c1"/>
          <p:cNvSpPr txBox="1"/>
          <p:nvPr/>
        </p:nvSpPr>
        <p:spPr>
          <a:xfrm>
            <a:off x="2212848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60" name="msa-r4c2"/>
          <p:cNvSpPr txBox="1"/>
          <p:nvPr/>
        </p:nvSpPr>
        <p:spPr>
          <a:xfrm>
            <a:off x="2779776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61" name="msa-r4c3"/>
          <p:cNvSpPr txBox="1"/>
          <p:nvPr/>
        </p:nvSpPr>
        <p:spPr>
          <a:xfrm>
            <a:off x="3346704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2000" dirty="0"/>
          </a:p>
        </p:txBody>
      </p:sp>
      <p:sp>
        <p:nvSpPr>
          <p:cNvPr id="62" name="msa-r4c4"/>
          <p:cNvSpPr txBox="1"/>
          <p:nvPr/>
        </p:nvSpPr>
        <p:spPr>
          <a:xfrm>
            <a:off x="3913632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2000" dirty="0"/>
          </a:p>
        </p:txBody>
      </p:sp>
      <p:sp>
        <p:nvSpPr>
          <p:cNvPr id="63" name="msa-r4c5"/>
          <p:cNvSpPr txBox="1"/>
          <p:nvPr/>
        </p:nvSpPr>
        <p:spPr>
          <a:xfrm>
            <a:off x="4480560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2000" dirty="0"/>
          </a:p>
        </p:txBody>
      </p:sp>
      <p:sp>
        <p:nvSpPr>
          <p:cNvPr id="64" name="msa-r4c6"/>
          <p:cNvSpPr txBox="1"/>
          <p:nvPr/>
        </p:nvSpPr>
        <p:spPr>
          <a:xfrm>
            <a:off x="5047488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65" name="msa-r4c7"/>
          <p:cNvSpPr txBox="1"/>
          <p:nvPr/>
        </p:nvSpPr>
        <p:spPr>
          <a:xfrm>
            <a:off x="5614416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66" name="msa-r4c8"/>
          <p:cNvSpPr txBox="1"/>
          <p:nvPr/>
        </p:nvSpPr>
        <p:spPr>
          <a:xfrm>
            <a:off x="6181344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67" name="msa-r4c9"/>
          <p:cNvSpPr txBox="1"/>
          <p:nvPr/>
        </p:nvSpPr>
        <p:spPr>
          <a:xfrm>
            <a:off x="6748272" y="4050792"/>
            <a:ext cx="566928" cy="566928"/>
          </a:xfrm>
          <a:prstGeom prst="rect">
            <a:avLst/>
          </a:prstGeom>
          <a:solidFill>
            <a:schemeClr val="bg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2000" dirty="0"/>
          </a:p>
        </p:txBody>
      </p:sp>
      <p:sp>
        <p:nvSpPr>
          <p:cNvPr id="68" name="card-quick"/>
          <p:cNvSpPr/>
          <p:nvPr/>
        </p:nvSpPr>
        <p:spPr>
          <a:xfrm>
            <a:off x="7955280" y="1417320"/>
            <a:ext cx="3685032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chip-FaBullseye"/>
          <p:cNvSpPr/>
          <p:nvPr/>
        </p:nvSpPr>
        <p:spPr>
          <a:xfrm>
            <a:off x="827532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0" name="icon-FaBullsey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1934870"/>
            <a:ext cx="427939" cy="427939"/>
          </a:xfrm>
          <a:prstGeom prst="rect">
            <a:avLst/>
          </a:prstGeom>
        </p:spPr>
      </p:pic>
      <p:sp>
        <p:nvSpPr>
          <p:cNvPr id="71" name="Text 68"/>
          <p:cNvSpPr txBox="1"/>
          <p:nvPr/>
        </p:nvSpPr>
        <p:spPr>
          <a:xfrm>
            <a:off x="8275320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to the most conserved column</a:t>
            </a:r>
            <a:endParaRPr lang="en-US" sz="2400" dirty="0"/>
          </a:p>
        </p:txBody>
      </p:sp>
      <p:sp>
        <p:nvSpPr>
          <p:cNvPr id="72" name="Text 69"/>
          <p:cNvSpPr txBox="1"/>
          <p:nvPr/>
        </p:nvSpPr>
        <p:spPr>
          <a:xfrm>
            <a:off x="8275320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Which column has the same residue in every sequence?</a:t>
            </a:r>
            <a:endParaRPr lang="en-US" sz="1600" dirty="0"/>
          </a:p>
        </p:txBody>
      </p:sp>
      <p:sp>
        <p:nvSpPr>
          <p:cNvPr id="73" name="Text 70"/>
          <p:cNvSpPr txBox="1"/>
          <p:nvPr/>
        </p:nvSpPr>
        <p:spPr>
          <a:xfrm>
            <a:off x="548640" y="48920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Watch out: some columns are almost conserved. Only one is identical in all five sequences.</a:t>
            </a:r>
            <a:endParaRPr lang="en-US" sz="160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take-row0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4" name="badge-1"/>
          <p:cNvSpPr txBox="1"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63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Progressive alignment builds an MSA step by step, guided by a tree.</a:t>
            </a:r>
            <a:endParaRPr lang="en-US" sz="1900" dirty="0"/>
          </a:p>
        </p:txBody>
      </p:sp>
      <p:sp>
        <p:nvSpPr>
          <p:cNvPr id="6" name="take-row1"/>
          <p:cNvSpPr/>
          <p:nvPr/>
        </p:nvSpPr>
        <p:spPr>
          <a:xfrm>
            <a:off x="548640" y="256032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7" name="badge-2"/>
          <p:cNvSpPr txBox="1"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60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The guide tree sets the order: the closest relatives are aligned first.</a:t>
            </a:r>
            <a:endParaRPr lang="en-US" sz="1900" dirty="0"/>
          </a:p>
        </p:txBody>
      </p:sp>
      <p:sp>
        <p:nvSpPr>
          <p:cNvPr id="9" name="take-row2"/>
          <p:cNvSpPr/>
          <p:nvPr/>
        </p:nvSpPr>
        <p:spPr>
          <a:xfrm>
            <a:off x="548640" y="36576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0" name="badge-3"/>
          <p:cNvSpPr txBox="1"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6576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MUSCLE and ClustalW automate this. Always check the result by eye.</a:t>
            </a:r>
            <a:endParaRPr lang="en-US" sz="1900" dirty="0"/>
          </a:p>
        </p:txBody>
      </p:sp>
      <p:sp>
        <p:nvSpPr>
          <p:cNvPr id="12" name="take-row3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3" name="badge-4"/>
          <p:cNvSpPr txBox="1"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7548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Conserved columns and motifs point to important function; gaps tell evolutionary stories.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 Navy">
  <a:themeElements>
    <a:clrScheme name="Bioinformatics Navy">
      <a:dk1>
        <a:srgbClr val="14193A"/>
      </a:dk1>
      <a:lt1>
        <a:srgbClr val="FFFFFF"/>
      </a:lt1>
      <a:dk2>
        <a:srgbClr val="1E2761"/>
      </a:dk2>
      <a:lt2>
        <a:srgbClr val="EEF3FC"/>
      </a:lt2>
      <a:accent1>
        <a:srgbClr val="F39C34"/>
      </a:accent1>
      <a:accent2>
        <a:srgbClr val="CADCFC"/>
      </a:accent2>
      <a:accent3>
        <a:srgbClr val="3A5BA0"/>
      </a:accent3>
      <a:accent4>
        <a:srgbClr val="2E9E8F"/>
      </a:accent4>
      <a:accent5>
        <a:srgbClr val="7C86AB"/>
      </a:accent5>
      <a:accent6>
        <a:srgbClr val="D9534F"/>
      </a:accent6>
      <a:hlink>
        <a:srgbClr val="3A5BA0"/>
      </a:hlink>
      <a:folHlink>
        <a:srgbClr val="7C86AB"/>
      </a:folHlink>
    </a:clrScheme>
    <a:fontScheme name="Bioinformatics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Widescreen</PresentationFormat>
  <Paragraphs>534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Bioinformatics Navy</vt:lpstr>
      <vt:lpstr>Multiple Sequence Alignment</vt:lpstr>
      <vt:lpstr>Learning objectives</vt:lpstr>
      <vt:lpstr>From pairs to families</vt:lpstr>
      <vt:lpstr>Anatomy of an MSA</vt:lpstr>
      <vt:lpstr>Progressive alignment in 3 steps</vt:lpstr>
      <vt:lpstr>Guide tree: who gets aligned first?</vt:lpstr>
      <vt:lpstr>Progressive alignment, step by step</vt:lpstr>
      <vt:lpstr>ClustalW vs MUSCLE</vt:lpstr>
      <vt:lpstr>Conserved residues, motifs and domains</vt:lpstr>
      <vt:lpstr>What do gaps mean?</vt:lpstr>
      <vt:lpstr>Class activities</vt:lpstr>
      <vt:lpstr>Lab: align it, then see it</vt:lpstr>
      <vt:lpstr>Assignment: align a gene family</vt:lpstr>
      <vt:lpstr>Quick check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8: Multiple Sequence Alignment</dc:title>
  <dc:subject>PptxGenJS Presentation</dc:subject>
  <dc:creator>Bioinformatics, MS Data Science</dc:creator>
  <cp:lastModifiedBy>Dr Shahid Manzoor</cp:lastModifiedBy>
  <cp:revision>1</cp:revision>
  <dcterms:created xsi:type="dcterms:W3CDTF">2026-10-14T08:41:29Z</dcterms:created>
  <dcterms:modified xsi:type="dcterms:W3CDTF">2026-10-14T08:42:44Z</dcterms:modified>
</cp:coreProperties>
</file>